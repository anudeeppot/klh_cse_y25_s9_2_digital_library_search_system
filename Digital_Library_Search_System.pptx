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9966959" y="-1188720"/>
            <a:ext cx="3840481" cy="384048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10881359" y="4206240"/>
            <a:ext cx="2743201" cy="2743201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>
            <a:off x="10698480" y="457200"/>
            <a:ext cx="32005" cy="32004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Shape 3"/>
          <p:cNvSpPr/>
          <p:nvPr/>
        </p:nvSpPr>
        <p:spPr>
          <a:xfrm>
            <a:off x="10872216" y="457200"/>
            <a:ext cx="32005" cy="32004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Shape 4"/>
          <p:cNvSpPr/>
          <p:nvPr/>
        </p:nvSpPr>
        <p:spPr>
          <a:xfrm>
            <a:off x="11045952" y="457200"/>
            <a:ext cx="32005" cy="32004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Shape 5"/>
          <p:cNvSpPr/>
          <p:nvPr/>
        </p:nvSpPr>
        <p:spPr>
          <a:xfrm>
            <a:off x="11219688" y="457200"/>
            <a:ext cx="32005" cy="32004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Shape 6"/>
          <p:cNvSpPr/>
          <p:nvPr/>
        </p:nvSpPr>
        <p:spPr>
          <a:xfrm>
            <a:off x="11393423" y="457200"/>
            <a:ext cx="32005" cy="32004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Shape 7"/>
          <p:cNvSpPr/>
          <p:nvPr/>
        </p:nvSpPr>
        <p:spPr>
          <a:xfrm>
            <a:off x="11567159" y="457200"/>
            <a:ext cx="32005" cy="32004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Shape 8"/>
          <p:cNvSpPr/>
          <p:nvPr/>
        </p:nvSpPr>
        <p:spPr>
          <a:xfrm>
            <a:off x="10698480" y="630936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Shape 9"/>
          <p:cNvSpPr/>
          <p:nvPr/>
        </p:nvSpPr>
        <p:spPr>
          <a:xfrm>
            <a:off x="10872216" y="630936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Shape 10"/>
          <p:cNvSpPr/>
          <p:nvPr/>
        </p:nvSpPr>
        <p:spPr>
          <a:xfrm>
            <a:off x="11045952" y="630936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Shape 11"/>
          <p:cNvSpPr/>
          <p:nvPr/>
        </p:nvSpPr>
        <p:spPr>
          <a:xfrm>
            <a:off x="11219688" y="630936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Shape 12"/>
          <p:cNvSpPr/>
          <p:nvPr/>
        </p:nvSpPr>
        <p:spPr>
          <a:xfrm>
            <a:off x="11393423" y="630936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Shape 13"/>
          <p:cNvSpPr/>
          <p:nvPr/>
        </p:nvSpPr>
        <p:spPr>
          <a:xfrm>
            <a:off x="11567159" y="630936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Shape 14"/>
          <p:cNvSpPr/>
          <p:nvPr/>
        </p:nvSpPr>
        <p:spPr>
          <a:xfrm>
            <a:off x="10698480" y="804672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Shape 15"/>
          <p:cNvSpPr/>
          <p:nvPr/>
        </p:nvSpPr>
        <p:spPr>
          <a:xfrm>
            <a:off x="10872216" y="804672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Shape 16"/>
          <p:cNvSpPr/>
          <p:nvPr/>
        </p:nvSpPr>
        <p:spPr>
          <a:xfrm>
            <a:off x="11045952" y="804672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Shape 17"/>
          <p:cNvSpPr/>
          <p:nvPr/>
        </p:nvSpPr>
        <p:spPr>
          <a:xfrm>
            <a:off x="11219688" y="804672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Shape 18"/>
          <p:cNvSpPr/>
          <p:nvPr/>
        </p:nvSpPr>
        <p:spPr>
          <a:xfrm>
            <a:off x="11393423" y="804672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Shape 19"/>
          <p:cNvSpPr/>
          <p:nvPr/>
        </p:nvSpPr>
        <p:spPr>
          <a:xfrm>
            <a:off x="11567159" y="804672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Shape 20"/>
          <p:cNvSpPr/>
          <p:nvPr/>
        </p:nvSpPr>
        <p:spPr>
          <a:xfrm>
            <a:off x="10698480" y="978408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Shape 21"/>
          <p:cNvSpPr/>
          <p:nvPr/>
        </p:nvSpPr>
        <p:spPr>
          <a:xfrm>
            <a:off x="10872216" y="978408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Shape 22"/>
          <p:cNvSpPr/>
          <p:nvPr/>
        </p:nvSpPr>
        <p:spPr>
          <a:xfrm>
            <a:off x="11045952" y="978408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Shape 23"/>
          <p:cNvSpPr/>
          <p:nvPr/>
        </p:nvSpPr>
        <p:spPr>
          <a:xfrm>
            <a:off x="11219688" y="978408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Shape 24"/>
          <p:cNvSpPr/>
          <p:nvPr/>
        </p:nvSpPr>
        <p:spPr>
          <a:xfrm>
            <a:off x="11393423" y="978408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Shape 25"/>
          <p:cNvSpPr/>
          <p:nvPr/>
        </p:nvSpPr>
        <p:spPr>
          <a:xfrm>
            <a:off x="11567159" y="978408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Shape 26"/>
          <p:cNvSpPr/>
          <p:nvPr/>
        </p:nvSpPr>
        <p:spPr>
          <a:xfrm>
            <a:off x="10698480" y="1152144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Shape 27"/>
          <p:cNvSpPr/>
          <p:nvPr/>
        </p:nvSpPr>
        <p:spPr>
          <a:xfrm>
            <a:off x="10872216" y="1152144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Shape 28"/>
          <p:cNvSpPr/>
          <p:nvPr/>
        </p:nvSpPr>
        <p:spPr>
          <a:xfrm>
            <a:off x="11045952" y="1152144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Shape 29"/>
          <p:cNvSpPr/>
          <p:nvPr/>
        </p:nvSpPr>
        <p:spPr>
          <a:xfrm>
            <a:off x="11219688" y="1152144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Shape 30"/>
          <p:cNvSpPr/>
          <p:nvPr/>
        </p:nvSpPr>
        <p:spPr>
          <a:xfrm>
            <a:off x="11393423" y="1152144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Shape 31"/>
          <p:cNvSpPr/>
          <p:nvPr/>
        </p:nvSpPr>
        <p:spPr>
          <a:xfrm>
            <a:off x="11567159" y="1152144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Shape 32"/>
          <p:cNvSpPr/>
          <p:nvPr/>
        </p:nvSpPr>
        <p:spPr>
          <a:xfrm>
            <a:off x="10698480" y="1325880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Shape 33"/>
          <p:cNvSpPr/>
          <p:nvPr/>
        </p:nvSpPr>
        <p:spPr>
          <a:xfrm>
            <a:off x="10872216" y="1325880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Shape 34"/>
          <p:cNvSpPr/>
          <p:nvPr/>
        </p:nvSpPr>
        <p:spPr>
          <a:xfrm>
            <a:off x="11045952" y="1325880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Shape 35"/>
          <p:cNvSpPr/>
          <p:nvPr/>
        </p:nvSpPr>
        <p:spPr>
          <a:xfrm>
            <a:off x="11219688" y="1325880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Shape 36"/>
          <p:cNvSpPr/>
          <p:nvPr/>
        </p:nvSpPr>
        <p:spPr>
          <a:xfrm>
            <a:off x="11393423" y="1325880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Shape 37"/>
          <p:cNvSpPr/>
          <p:nvPr/>
        </p:nvSpPr>
        <p:spPr>
          <a:xfrm>
            <a:off x="11567159" y="1325880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Shape 38"/>
          <p:cNvSpPr/>
          <p:nvPr/>
        </p:nvSpPr>
        <p:spPr>
          <a:xfrm>
            <a:off x="822960" y="658368"/>
            <a:ext cx="548641" cy="548641"/>
          </a:xfrm>
          <a:prstGeom prst="ellipse">
            <a:avLst/>
          </a:prstGeom>
          <a:solidFill>
            <a:srgbClr val="132A4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0975" y="78638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60" name="Text 39"/>
          <p:cNvSpPr txBox="1"/>
          <p:nvPr/>
        </p:nvSpPr>
        <p:spPr>
          <a:xfrm>
            <a:off x="1554480" y="849307"/>
            <a:ext cx="86868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200" sz="1300">
                <a:solidFill>
                  <a:srgbClr val="02C39A"/>
                </a:solidFill>
              </a:defRPr>
            </a:lvl1pPr>
          </a:lstStyle>
          <a:p>
            <a:pPr/>
            <a:r>
              <a:t>DATA STRUCTURES AND ALGORITHMS – 3  •  25CS2103E</a:t>
            </a:r>
          </a:p>
        </p:txBody>
      </p:sp>
      <p:sp>
        <p:nvSpPr>
          <p:cNvPr id="61" name="Text 40"/>
          <p:cNvSpPr txBox="1"/>
          <p:nvPr/>
        </p:nvSpPr>
        <p:spPr>
          <a:xfrm>
            <a:off x="777240" y="1791969"/>
            <a:ext cx="8686801" cy="1353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4999"/>
              </a:lnSpc>
              <a:defRPr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Digital Library</a:t>
            </a:r>
          </a:p>
          <a:p>
            <a:pPr>
              <a:lnSpc>
                <a:spcPct val="104999"/>
              </a:lnSpc>
              <a:defRPr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Search System</a:t>
            </a:r>
          </a:p>
        </p:txBody>
      </p:sp>
      <p:sp>
        <p:nvSpPr>
          <p:cNvPr id="62" name="Shape 41"/>
          <p:cNvSpPr/>
          <p:nvPr/>
        </p:nvSpPr>
        <p:spPr>
          <a:xfrm>
            <a:off x="841247" y="3364991"/>
            <a:ext cx="640081" cy="45721"/>
          </a:xfrm>
          <a:prstGeom prst="rect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Text 42"/>
          <p:cNvSpPr txBox="1"/>
          <p:nvPr/>
        </p:nvSpPr>
        <p:spPr>
          <a:xfrm>
            <a:off x="822959" y="3677220"/>
            <a:ext cx="7863842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C7D6DE"/>
                </a:solidFill>
              </a:defRPr>
            </a:lvl1pPr>
          </a:lstStyle>
          <a:p>
            <a:pPr/>
            <a:r>
              <a:t>A smart search tool that helps you find books, journals, and research papers quickly and correctly — built around the KMP algorithm.</a:t>
            </a:r>
          </a:p>
        </p:txBody>
      </p:sp>
      <p:sp>
        <p:nvSpPr>
          <p:cNvPr id="64" name="Shape 43"/>
          <p:cNvSpPr/>
          <p:nvPr/>
        </p:nvSpPr>
        <p:spPr>
          <a:xfrm>
            <a:off x="822960" y="4389120"/>
            <a:ext cx="7863841" cy="1691641"/>
          </a:xfrm>
          <a:prstGeom prst="roundRect">
            <a:avLst>
              <a:gd name="adj" fmla="val 6486"/>
            </a:avLst>
          </a:prstGeom>
          <a:solidFill>
            <a:srgbClr val="132A47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" name="Shape 44"/>
          <p:cNvSpPr/>
          <p:nvPr/>
        </p:nvSpPr>
        <p:spPr>
          <a:xfrm>
            <a:off x="822960" y="4389120"/>
            <a:ext cx="54865" cy="1691641"/>
          </a:xfrm>
          <a:prstGeom prst="rect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45"/>
          <p:cNvSpPr txBox="1"/>
          <p:nvPr/>
        </p:nvSpPr>
        <p:spPr>
          <a:xfrm>
            <a:off x="1143000" y="4619166"/>
            <a:ext cx="36576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100">
                <a:solidFill>
                  <a:srgbClr val="02C39A"/>
                </a:solidFill>
              </a:defRPr>
            </a:lvl1pPr>
          </a:lstStyle>
          <a:p>
            <a:pPr/>
            <a:r>
              <a:t>TEAM MEMBERS</a:t>
            </a:r>
          </a:p>
        </p:txBody>
      </p:sp>
      <p:sp>
        <p:nvSpPr>
          <p:cNvPr id="67" name="Text 46"/>
          <p:cNvSpPr txBox="1"/>
          <p:nvPr/>
        </p:nvSpPr>
        <p:spPr>
          <a:xfrm>
            <a:off x="1142999" y="4968679"/>
            <a:ext cx="420624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V.GAUTAM </a:t>
            </a:r>
          </a:p>
        </p:txBody>
      </p:sp>
      <p:sp>
        <p:nvSpPr>
          <p:cNvPr id="68" name="Text 47"/>
          <p:cNvSpPr txBox="1"/>
          <p:nvPr/>
        </p:nvSpPr>
        <p:spPr>
          <a:xfrm>
            <a:off x="5394959" y="4968679"/>
            <a:ext cx="30175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lvl="2" algn="r">
              <a:defRPr sz="1300">
                <a:solidFill>
                  <a:srgbClr val="9FB4C2"/>
                </a:solidFill>
              </a:defRPr>
            </a:pPr>
            <a:r>
              <a:t>2520030316</a:t>
            </a:r>
          </a:p>
        </p:txBody>
      </p:sp>
      <p:sp>
        <p:nvSpPr>
          <p:cNvPr id="69" name="Text 48"/>
          <p:cNvSpPr txBox="1"/>
          <p:nvPr/>
        </p:nvSpPr>
        <p:spPr>
          <a:xfrm>
            <a:off x="1142999" y="5352727"/>
            <a:ext cx="420624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S. SARVESWARA REDDY</a:t>
            </a:r>
          </a:p>
        </p:txBody>
      </p:sp>
      <p:sp>
        <p:nvSpPr>
          <p:cNvPr id="70" name="Text 49"/>
          <p:cNvSpPr txBox="1"/>
          <p:nvPr/>
        </p:nvSpPr>
        <p:spPr>
          <a:xfrm>
            <a:off x="5394959" y="5352727"/>
            <a:ext cx="30175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300">
                <a:solidFill>
                  <a:srgbClr val="9FB4C2"/>
                </a:solidFill>
              </a:defRPr>
            </a:lvl1pPr>
          </a:lstStyle>
          <a:p>
            <a:pPr/>
            <a:r>
              <a:t>2520030049</a:t>
            </a:r>
          </a:p>
        </p:txBody>
      </p:sp>
      <p:sp>
        <p:nvSpPr>
          <p:cNvPr id="71" name="Text 50"/>
          <p:cNvSpPr txBox="1"/>
          <p:nvPr/>
        </p:nvSpPr>
        <p:spPr>
          <a:xfrm>
            <a:off x="1142999" y="5736775"/>
            <a:ext cx="420624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P.ANUDEEP</a:t>
            </a:r>
          </a:p>
        </p:txBody>
      </p:sp>
      <p:sp>
        <p:nvSpPr>
          <p:cNvPr id="72" name="Text 51"/>
          <p:cNvSpPr txBox="1"/>
          <p:nvPr/>
        </p:nvSpPr>
        <p:spPr>
          <a:xfrm>
            <a:off x="5394959" y="5736775"/>
            <a:ext cx="301752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300">
                <a:solidFill>
                  <a:srgbClr val="9FB4C2"/>
                </a:solidFill>
              </a:defRPr>
            </a:lvl1pPr>
          </a:lstStyle>
          <a:p>
            <a:pPr/>
            <a:r>
              <a:t>2520030087</a:t>
            </a:r>
          </a:p>
        </p:txBody>
      </p:sp>
      <p:sp>
        <p:nvSpPr>
          <p:cNvPr id="73" name="Text 52"/>
          <p:cNvSpPr txBox="1"/>
          <p:nvPr/>
        </p:nvSpPr>
        <p:spPr>
          <a:xfrm>
            <a:off x="822960" y="6400844"/>
            <a:ext cx="8229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FA6B8"/>
                </a:solidFill>
              </a:defRPr>
            </a:lvl1pPr>
          </a:lstStyle>
          <a:p>
            <a:pPr/>
            <a:r>
              <a:t>Team 2  •  Section 9  •  Guide: Dr. S. Vinay Kumar, Associate Professor, CSE</a:t>
            </a:r>
          </a:p>
        </p:txBody>
      </p:sp>
      <p:sp>
        <p:nvSpPr>
          <p:cNvPr id="74" name="Shape 53"/>
          <p:cNvSpPr/>
          <p:nvPr/>
        </p:nvSpPr>
        <p:spPr>
          <a:xfrm>
            <a:off x="5666080" y="6547104"/>
            <a:ext cx="109729" cy="109729"/>
          </a:xfrm>
          <a:prstGeom prst="ellipse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Shape 54"/>
          <p:cNvSpPr/>
          <p:nvPr/>
        </p:nvSpPr>
        <p:spPr>
          <a:xfrm>
            <a:off x="5821527" y="6547104"/>
            <a:ext cx="82297" cy="82297"/>
          </a:xfrm>
          <a:prstGeom prst="ellipse">
            <a:avLst/>
          </a:prstGeom>
          <a:solidFill>
            <a:srgbClr val="2B415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Shape 55"/>
          <p:cNvSpPr/>
          <p:nvPr/>
        </p:nvSpPr>
        <p:spPr>
          <a:xfrm>
            <a:off x="5976975" y="6547104"/>
            <a:ext cx="82297" cy="82297"/>
          </a:xfrm>
          <a:prstGeom prst="ellipse">
            <a:avLst/>
          </a:prstGeom>
          <a:solidFill>
            <a:srgbClr val="2B415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Shape 56"/>
          <p:cNvSpPr/>
          <p:nvPr/>
        </p:nvSpPr>
        <p:spPr>
          <a:xfrm>
            <a:off x="6132424" y="6547104"/>
            <a:ext cx="82297" cy="82297"/>
          </a:xfrm>
          <a:prstGeom prst="ellipse">
            <a:avLst/>
          </a:prstGeom>
          <a:solidFill>
            <a:srgbClr val="2B415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Shape 57"/>
          <p:cNvSpPr/>
          <p:nvPr/>
        </p:nvSpPr>
        <p:spPr>
          <a:xfrm>
            <a:off x="6287872" y="6547104"/>
            <a:ext cx="82297" cy="82297"/>
          </a:xfrm>
          <a:prstGeom prst="ellipse">
            <a:avLst/>
          </a:prstGeom>
          <a:solidFill>
            <a:srgbClr val="2B415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Shape 58"/>
          <p:cNvSpPr/>
          <p:nvPr/>
        </p:nvSpPr>
        <p:spPr>
          <a:xfrm>
            <a:off x="6443319" y="6547104"/>
            <a:ext cx="82297" cy="82297"/>
          </a:xfrm>
          <a:prstGeom prst="ellipse">
            <a:avLst/>
          </a:prstGeom>
          <a:solidFill>
            <a:srgbClr val="2B415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 txBox="1"/>
          <p:nvPr/>
        </p:nvSpPr>
        <p:spPr>
          <a:xfrm>
            <a:off x="548640" y="542290"/>
            <a:ext cx="1005840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82" name="Shape 1"/>
          <p:cNvSpPr/>
          <p:nvPr/>
        </p:nvSpPr>
        <p:spPr>
          <a:xfrm>
            <a:off x="566927" y="1042416"/>
            <a:ext cx="502921" cy="41149"/>
          </a:xfrm>
          <a:prstGeom prst="rect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2"/>
          <p:cNvSpPr txBox="1"/>
          <p:nvPr/>
        </p:nvSpPr>
        <p:spPr>
          <a:xfrm>
            <a:off x="548640" y="1233355"/>
            <a:ext cx="96012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5C7080"/>
                </a:solidFill>
              </a:defRPr>
            </a:lvl1pPr>
          </a:lstStyle>
          <a:p>
            <a:pPr/>
            <a:r>
              <a:t>Why old-style library search doesn't work well</a:t>
            </a:r>
          </a:p>
        </p:txBody>
      </p:sp>
      <p:sp>
        <p:nvSpPr>
          <p:cNvPr id="84" name="Shape 3"/>
          <p:cNvSpPr/>
          <p:nvPr/>
        </p:nvSpPr>
        <p:spPr>
          <a:xfrm>
            <a:off x="548640" y="1600200"/>
            <a:ext cx="11064241" cy="9144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Shape 4"/>
          <p:cNvSpPr/>
          <p:nvPr/>
        </p:nvSpPr>
        <p:spPr>
          <a:xfrm>
            <a:off x="548640" y="1600200"/>
            <a:ext cx="73153" cy="914400"/>
          </a:xfrm>
          <a:prstGeom prst="rect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Text 5"/>
          <p:cNvSpPr txBox="1"/>
          <p:nvPr/>
        </p:nvSpPr>
        <p:spPr>
          <a:xfrm>
            <a:off x="960119" y="1964121"/>
            <a:ext cx="10332722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Old systems only match exact words. They're slow, don't handle typos, and can't show how resources connect.</a:t>
            </a:r>
          </a:p>
        </p:txBody>
      </p:sp>
      <p:sp>
        <p:nvSpPr>
          <p:cNvPr id="87" name="Shape 6"/>
          <p:cNvSpPr/>
          <p:nvPr/>
        </p:nvSpPr>
        <p:spPr>
          <a:xfrm>
            <a:off x="548640" y="2743200"/>
            <a:ext cx="5349241" cy="1554481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Shape 7"/>
          <p:cNvSpPr/>
          <p:nvPr/>
        </p:nvSpPr>
        <p:spPr>
          <a:xfrm>
            <a:off x="777240" y="2999232"/>
            <a:ext cx="502921" cy="502921"/>
          </a:xfrm>
          <a:prstGeom prst="ellipse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8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5255" y="3127248"/>
            <a:ext cx="246889" cy="246889"/>
          </a:xfrm>
          <a:prstGeom prst="rect">
            <a:avLst/>
          </a:prstGeom>
          <a:ln w="12700">
            <a:miter lim="400000"/>
          </a:ln>
        </p:spPr>
      </p:pic>
      <p:sp>
        <p:nvSpPr>
          <p:cNvPr id="90" name="Text 8"/>
          <p:cNvSpPr txBox="1"/>
          <p:nvPr/>
        </p:nvSpPr>
        <p:spPr>
          <a:xfrm>
            <a:off x="1444752" y="3037585"/>
            <a:ext cx="42519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Too Slow</a:t>
            </a:r>
          </a:p>
        </p:txBody>
      </p:sp>
      <p:sp>
        <p:nvSpPr>
          <p:cNvPr id="91" name="Text 9"/>
          <p:cNvSpPr txBox="1"/>
          <p:nvPr/>
        </p:nvSpPr>
        <p:spPr>
          <a:xfrm>
            <a:off x="804671" y="3816911"/>
            <a:ext cx="484632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10222E"/>
                </a:solidFill>
              </a:defRPr>
            </a:lvl1pPr>
          </a:lstStyle>
          <a:p>
            <a:pPr/>
            <a:r>
              <a:t>Searching word by word gets slow once the library grows.</a:t>
            </a:r>
          </a:p>
        </p:txBody>
      </p:sp>
      <p:sp>
        <p:nvSpPr>
          <p:cNvPr id="92" name="Shape 10"/>
          <p:cNvSpPr/>
          <p:nvPr/>
        </p:nvSpPr>
        <p:spPr>
          <a:xfrm>
            <a:off x="6263640" y="2743200"/>
            <a:ext cx="5349241" cy="1554481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Shape 11"/>
          <p:cNvSpPr/>
          <p:nvPr/>
        </p:nvSpPr>
        <p:spPr>
          <a:xfrm>
            <a:off x="6492240" y="2999232"/>
            <a:ext cx="502921" cy="502921"/>
          </a:xfrm>
          <a:prstGeom prst="ellipse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9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20256" y="3127248"/>
            <a:ext cx="246889" cy="246889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ext 12"/>
          <p:cNvSpPr txBox="1"/>
          <p:nvPr/>
        </p:nvSpPr>
        <p:spPr>
          <a:xfrm>
            <a:off x="7159752" y="3037585"/>
            <a:ext cx="42519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No Typo Tolerance</a:t>
            </a:r>
          </a:p>
        </p:txBody>
      </p:sp>
      <p:sp>
        <p:nvSpPr>
          <p:cNvPr id="96" name="Text 13"/>
          <p:cNvSpPr txBox="1"/>
          <p:nvPr/>
        </p:nvSpPr>
        <p:spPr>
          <a:xfrm>
            <a:off x="6519671" y="3816911"/>
            <a:ext cx="48463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10222E"/>
                </a:solidFill>
              </a:defRPr>
            </a:lvl1pPr>
          </a:lstStyle>
          <a:p>
            <a:pPr/>
            <a:r>
              <a:t>One spelling mistake and you miss the result you wanted.</a:t>
            </a:r>
          </a:p>
        </p:txBody>
      </p:sp>
      <p:sp>
        <p:nvSpPr>
          <p:cNvPr id="97" name="Shape 14"/>
          <p:cNvSpPr/>
          <p:nvPr/>
        </p:nvSpPr>
        <p:spPr>
          <a:xfrm>
            <a:off x="548640" y="4526279"/>
            <a:ext cx="5349241" cy="1554481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Shape 15"/>
          <p:cNvSpPr/>
          <p:nvPr/>
        </p:nvSpPr>
        <p:spPr>
          <a:xfrm>
            <a:off x="777240" y="4782311"/>
            <a:ext cx="502921" cy="502921"/>
          </a:xfrm>
          <a:prstGeom prst="ellipse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99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05255" y="4910328"/>
            <a:ext cx="246889" cy="246889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Text 16"/>
          <p:cNvSpPr txBox="1"/>
          <p:nvPr/>
        </p:nvSpPr>
        <p:spPr>
          <a:xfrm>
            <a:off x="1444752" y="4820665"/>
            <a:ext cx="42519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Missed Connections</a:t>
            </a:r>
          </a:p>
        </p:txBody>
      </p:sp>
      <p:sp>
        <p:nvSpPr>
          <p:cNvPr id="101" name="Text 17"/>
          <p:cNvSpPr txBox="1"/>
          <p:nvPr/>
        </p:nvSpPr>
        <p:spPr>
          <a:xfrm>
            <a:off x="804671" y="5599991"/>
            <a:ext cx="484632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10222E"/>
                </a:solidFill>
              </a:defRPr>
            </a:lvl1pPr>
          </a:lstStyle>
          <a:p>
            <a:pPr/>
            <a:r>
              <a:t>Keyword matches alone don't show related papers or books.</a:t>
            </a:r>
          </a:p>
        </p:txBody>
      </p:sp>
      <p:sp>
        <p:nvSpPr>
          <p:cNvPr id="102" name="Shape 18"/>
          <p:cNvSpPr/>
          <p:nvPr/>
        </p:nvSpPr>
        <p:spPr>
          <a:xfrm>
            <a:off x="6263640" y="4526279"/>
            <a:ext cx="5349241" cy="1554481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1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Shape 19"/>
          <p:cNvSpPr/>
          <p:nvPr/>
        </p:nvSpPr>
        <p:spPr>
          <a:xfrm>
            <a:off x="6492240" y="4782311"/>
            <a:ext cx="502921" cy="502921"/>
          </a:xfrm>
          <a:prstGeom prst="ellipse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04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620256" y="4910328"/>
            <a:ext cx="246889" cy="246889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Text 20"/>
          <p:cNvSpPr txBox="1"/>
          <p:nvPr/>
        </p:nvSpPr>
        <p:spPr>
          <a:xfrm>
            <a:off x="7159752" y="4820665"/>
            <a:ext cx="42519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One-Size-Fits-All</a:t>
            </a:r>
          </a:p>
        </p:txBody>
      </p:sp>
      <p:sp>
        <p:nvSpPr>
          <p:cNvPr id="106" name="Text 21"/>
          <p:cNvSpPr txBox="1"/>
          <p:nvPr/>
        </p:nvSpPr>
        <p:spPr>
          <a:xfrm>
            <a:off x="6519671" y="5599991"/>
            <a:ext cx="48463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10222E"/>
                </a:solidFill>
              </a:defRPr>
            </a:lvl1pPr>
          </a:lstStyle>
          <a:p>
            <a:pPr/>
            <a:r>
              <a:t>The same basic method is used, even when a smarter one exists.</a:t>
            </a:r>
          </a:p>
        </p:txBody>
      </p:sp>
      <p:sp>
        <p:nvSpPr>
          <p:cNvPr id="107" name="Text 22"/>
          <p:cNvSpPr txBox="1"/>
          <p:nvPr/>
        </p:nvSpPr>
        <p:spPr>
          <a:xfrm>
            <a:off x="457200" y="6584188"/>
            <a:ext cx="3657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C7080"/>
                </a:solidFill>
              </a:defRPr>
            </a:lvl1pPr>
          </a:lstStyle>
          <a:p>
            <a:pPr/>
            <a:r>
              <a:t>Digital Library Search System</a:t>
            </a:r>
          </a:p>
        </p:txBody>
      </p:sp>
      <p:sp>
        <p:nvSpPr>
          <p:cNvPr id="108" name="Text 23"/>
          <p:cNvSpPr txBox="1"/>
          <p:nvPr/>
        </p:nvSpPr>
        <p:spPr>
          <a:xfrm>
            <a:off x="10881359" y="6584188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C7080"/>
                </a:solidFill>
              </a:defRPr>
            </a:lvl1pPr>
          </a:lstStyle>
          <a:p>
            <a:pPr/>
            <a:r>
              <a:t>02 / 06</a:t>
            </a:r>
          </a:p>
        </p:txBody>
      </p:sp>
      <p:sp>
        <p:nvSpPr>
          <p:cNvPr id="109" name="Shape 24"/>
          <p:cNvSpPr/>
          <p:nvPr/>
        </p:nvSpPr>
        <p:spPr>
          <a:xfrm>
            <a:off x="5666080" y="6547104"/>
            <a:ext cx="82297" cy="82297"/>
          </a:xfrm>
          <a:prstGeom prst="ellipse">
            <a:avLst/>
          </a:prstGeom>
          <a:solidFill>
            <a:srgbClr val="D3DCE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Shape 25"/>
          <p:cNvSpPr/>
          <p:nvPr/>
        </p:nvSpPr>
        <p:spPr>
          <a:xfrm>
            <a:off x="5821527" y="6547104"/>
            <a:ext cx="109729" cy="109729"/>
          </a:xfrm>
          <a:prstGeom prst="ellipse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Shape 26"/>
          <p:cNvSpPr/>
          <p:nvPr/>
        </p:nvSpPr>
        <p:spPr>
          <a:xfrm>
            <a:off x="5976975" y="6547104"/>
            <a:ext cx="82297" cy="82297"/>
          </a:xfrm>
          <a:prstGeom prst="ellipse">
            <a:avLst/>
          </a:prstGeom>
          <a:solidFill>
            <a:srgbClr val="D3DCE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Shape 27"/>
          <p:cNvSpPr/>
          <p:nvPr/>
        </p:nvSpPr>
        <p:spPr>
          <a:xfrm>
            <a:off x="6132424" y="6547104"/>
            <a:ext cx="82297" cy="82297"/>
          </a:xfrm>
          <a:prstGeom prst="ellipse">
            <a:avLst/>
          </a:prstGeom>
          <a:solidFill>
            <a:srgbClr val="D3DCE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Shape 28"/>
          <p:cNvSpPr/>
          <p:nvPr/>
        </p:nvSpPr>
        <p:spPr>
          <a:xfrm>
            <a:off x="6287872" y="6547104"/>
            <a:ext cx="82297" cy="82297"/>
          </a:xfrm>
          <a:prstGeom prst="ellipse">
            <a:avLst/>
          </a:prstGeom>
          <a:solidFill>
            <a:srgbClr val="D3DCE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Shape 29"/>
          <p:cNvSpPr/>
          <p:nvPr/>
        </p:nvSpPr>
        <p:spPr>
          <a:xfrm>
            <a:off x="6443319" y="6547104"/>
            <a:ext cx="82297" cy="82297"/>
          </a:xfrm>
          <a:prstGeom prst="ellipse">
            <a:avLst/>
          </a:prstGeom>
          <a:solidFill>
            <a:srgbClr val="D3DCE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0"/>
          <p:cNvSpPr txBox="1"/>
          <p:nvPr/>
        </p:nvSpPr>
        <p:spPr>
          <a:xfrm>
            <a:off x="548640" y="542290"/>
            <a:ext cx="1005840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Abstract</a:t>
            </a:r>
          </a:p>
        </p:txBody>
      </p:sp>
      <p:sp>
        <p:nvSpPr>
          <p:cNvPr id="117" name="Shape 1"/>
          <p:cNvSpPr/>
          <p:nvPr/>
        </p:nvSpPr>
        <p:spPr>
          <a:xfrm>
            <a:off x="566927" y="1042416"/>
            <a:ext cx="502921" cy="41149"/>
          </a:xfrm>
          <a:prstGeom prst="rect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Text 2"/>
          <p:cNvSpPr txBox="1"/>
          <p:nvPr/>
        </p:nvSpPr>
        <p:spPr>
          <a:xfrm>
            <a:off x="548640" y="1233355"/>
            <a:ext cx="96012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5C7080"/>
                </a:solidFill>
              </a:defRPr>
            </a:lvl1pPr>
          </a:lstStyle>
          <a:p>
            <a:pPr/>
            <a:r>
              <a:t>What our project does, in plain words</a:t>
            </a:r>
          </a:p>
        </p:txBody>
      </p:sp>
      <p:sp>
        <p:nvSpPr>
          <p:cNvPr id="119" name="Shape 3"/>
          <p:cNvSpPr/>
          <p:nvPr/>
        </p:nvSpPr>
        <p:spPr>
          <a:xfrm>
            <a:off x="548640" y="1600200"/>
            <a:ext cx="5349241" cy="2331721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>
            <a:outerShdw sx="100000" sy="100000" kx="0" ky="0" algn="b" rotWithShape="0" blurRad="101600" dist="25400" dir="54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" name="Shape 4"/>
          <p:cNvSpPr/>
          <p:nvPr/>
        </p:nvSpPr>
        <p:spPr>
          <a:xfrm>
            <a:off x="804672" y="1856232"/>
            <a:ext cx="548641" cy="548641"/>
          </a:xfrm>
          <a:prstGeom prst="ellipse">
            <a:avLst/>
          </a:prstGeom>
          <a:solidFill>
            <a:srgbClr val="0B1F3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2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41832" y="1993392"/>
            <a:ext cx="274321" cy="274321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Text 5"/>
          <p:cNvSpPr txBox="1"/>
          <p:nvPr/>
        </p:nvSpPr>
        <p:spPr>
          <a:xfrm>
            <a:off x="804671" y="2622549"/>
            <a:ext cx="483717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Fast, Smart Search</a:t>
            </a:r>
          </a:p>
        </p:txBody>
      </p:sp>
      <p:sp>
        <p:nvSpPr>
          <p:cNvPr id="123" name="Text 6"/>
          <p:cNvSpPr txBox="1"/>
          <p:nvPr/>
        </p:nvSpPr>
        <p:spPr>
          <a:xfrm>
            <a:off x="804671" y="3175622"/>
            <a:ext cx="4837178" cy="37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0222E"/>
                </a:solidFill>
              </a:defRPr>
            </a:lvl1pPr>
          </a:lstStyle>
          <a:p>
            <a:pPr/>
            <a:r>
              <a:t>Find books, journals, and papers quickly by title, author, ISBN, category, or keyword — using KMP, Rabin-Karp, and Boyer-Moore.</a:t>
            </a:r>
          </a:p>
        </p:txBody>
      </p:sp>
      <p:sp>
        <p:nvSpPr>
          <p:cNvPr id="124" name="Shape 7"/>
          <p:cNvSpPr/>
          <p:nvPr/>
        </p:nvSpPr>
        <p:spPr>
          <a:xfrm>
            <a:off x="6263640" y="1600200"/>
            <a:ext cx="5349241" cy="2331721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>
            <a:outerShdw sx="100000" sy="100000" kx="0" ky="0" algn="b" rotWithShape="0" blurRad="101600" dist="25400" dir="54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" name="Shape 8"/>
          <p:cNvSpPr/>
          <p:nvPr/>
        </p:nvSpPr>
        <p:spPr>
          <a:xfrm>
            <a:off x="6519671" y="1856232"/>
            <a:ext cx="548641" cy="548641"/>
          </a:xfrm>
          <a:prstGeom prst="ellipse">
            <a:avLst/>
          </a:prstGeom>
          <a:solidFill>
            <a:srgbClr val="0B1F3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26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56831" y="1993392"/>
            <a:ext cx="274321" cy="274321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Text 9"/>
          <p:cNvSpPr txBox="1"/>
          <p:nvPr/>
        </p:nvSpPr>
        <p:spPr>
          <a:xfrm>
            <a:off x="6519671" y="2622549"/>
            <a:ext cx="483717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Works With Typos</a:t>
            </a:r>
          </a:p>
        </p:txBody>
      </p:sp>
      <p:sp>
        <p:nvSpPr>
          <p:cNvPr id="128" name="Text 10"/>
          <p:cNvSpPr txBox="1"/>
          <p:nvPr/>
        </p:nvSpPr>
        <p:spPr>
          <a:xfrm>
            <a:off x="6519671" y="3286559"/>
            <a:ext cx="4837177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0222E"/>
                </a:solidFill>
              </a:defRPr>
            </a:lvl1pPr>
          </a:lstStyle>
          <a:p>
            <a:pPr/>
            <a:r>
              <a:t>Made a spelling mistake? Edit Distance still finds the result you meant.</a:t>
            </a:r>
          </a:p>
        </p:txBody>
      </p:sp>
      <p:sp>
        <p:nvSpPr>
          <p:cNvPr id="129" name="Shape 11"/>
          <p:cNvSpPr/>
          <p:nvPr/>
        </p:nvSpPr>
        <p:spPr>
          <a:xfrm>
            <a:off x="548640" y="4160520"/>
            <a:ext cx="5349241" cy="2331721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>
            <a:outerShdw sx="100000" sy="100000" kx="0" ky="0" algn="b" rotWithShape="0" blurRad="101600" dist="25400" dir="54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" name="Shape 12"/>
          <p:cNvSpPr/>
          <p:nvPr/>
        </p:nvSpPr>
        <p:spPr>
          <a:xfrm>
            <a:off x="804672" y="4416552"/>
            <a:ext cx="548641" cy="548641"/>
          </a:xfrm>
          <a:prstGeom prst="ellipse">
            <a:avLst/>
          </a:prstGeom>
          <a:solidFill>
            <a:srgbClr val="0B1F3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31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41832" y="4553711"/>
            <a:ext cx="274321" cy="274321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Text 13"/>
          <p:cNvSpPr txBox="1"/>
          <p:nvPr/>
        </p:nvSpPr>
        <p:spPr>
          <a:xfrm>
            <a:off x="804671" y="5182870"/>
            <a:ext cx="483717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Connects Resources</a:t>
            </a:r>
          </a:p>
        </p:txBody>
      </p:sp>
      <p:sp>
        <p:nvSpPr>
          <p:cNvPr id="133" name="Text 14"/>
          <p:cNvSpPr txBox="1"/>
          <p:nvPr/>
        </p:nvSpPr>
        <p:spPr>
          <a:xfrm>
            <a:off x="804671" y="5735943"/>
            <a:ext cx="4837178" cy="378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0222E"/>
                </a:solidFill>
              </a:defRPr>
            </a:lvl1pPr>
          </a:lstStyle>
          <a:p>
            <a:pPr/>
            <a:r>
              <a:t>Similar documents are grouped together, and related research papers are linked through citations.</a:t>
            </a:r>
          </a:p>
        </p:txBody>
      </p:sp>
      <p:sp>
        <p:nvSpPr>
          <p:cNvPr id="134" name="Shape 15"/>
          <p:cNvSpPr/>
          <p:nvPr/>
        </p:nvSpPr>
        <p:spPr>
          <a:xfrm>
            <a:off x="6263640" y="4160520"/>
            <a:ext cx="5349241" cy="2331721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>
            <a:outerShdw sx="100000" sy="100000" kx="0" ky="0" algn="b" rotWithShape="0" blurRad="101600" dist="25400" dir="5400000">
              <a:srgbClr val="000000">
                <a:alpha val="1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" name="Shape 16"/>
          <p:cNvSpPr/>
          <p:nvPr/>
        </p:nvSpPr>
        <p:spPr>
          <a:xfrm>
            <a:off x="6519671" y="4416552"/>
            <a:ext cx="548641" cy="548641"/>
          </a:xfrm>
          <a:prstGeom prst="ellipse">
            <a:avLst/>
          </a:prstGeom>
          <a:solidFill>
            <a:srgbClr val="0B1F3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36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656831" y="4553711"/>
            <a:ext cx="274321" cy="274321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17"/>
          <p:cNvSpPr txBox="1"/>
          <p:nvPr/>
        </p:nvSpPr>
        <p:spPr>
          <a:xfrm>
            <a:off x="6519671" y="5182870"/>
            <a:ext cx="483717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Built to Scale</a:t>
            </a:r>
          </a:p>
        </p:txBody>
      </p:sp>
      <p:sp>
        <p:nvSpPr>
          <p:cNvPr id="138" name="Text 18"/>
          <p:cNvSpPr txBox="1"/>
          <p:nvPr/>
        </p:nvSpPr>
        <p:spPr>
          <a:xfrm>
            <a:off x="6519671" y="5735943"/>
            <a:ext cx="4837177" cy="378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0222E"/>
                </a:solidFill>
              </a:defRPr>
            </a:lvl1pPr>
          </a:lstStyle>
          <a:p>
            <a:pPr/>
            <a:r>
              <a:t>Suffix arrays keep search fast even on very large collections, and we compare algorithms to pick the best one for each job.</a:t>
            </a:r>
          </a:p>
        </p:txBody>
      </p:sp>
      <p:sp>
        <p:nvSpPr>
          <p:cNvPr id="139" name="Text 19"/>
          <p:cNvSpPr txBox="1"/>
          <p:nvPr/>
        </p:nvSpPr>
        <p:spPr>
          <a:xfrm>
            <a:off x="457200" y="6584188"/>
            <a:ext cx="3657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C7080"/>
                </a:solidFill>
              </a:defRPr>
            </a:lvl1pPr>
          </a:lstStyle>
          <a:p>
            <a:pPr/>
            <a:r>
              <a:t>Digital Library Search System</a:t>
            </a:r>
          </a:p>
        </p:txBody>
      </p:sp>
      <p:sp>
        <p:nvSpPr>
          <p:cNvPr id="140" name="Text 20"/>
          <p:cNvSpPr txBox="1"/>
          <p:nvPr/>
        </p:nvSpPr>
        <p:spPr>
          <a:xfrm>
            <a:off x="10881359" y="6584188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C7080"/>
                </a:solidFill>
              </a:defRPr>
            </a:lvl1pPr>
          </a:lstStyle>
          <a:p>
            <a:pPr/>
            <a:r>
              <a:t>03 / 06</a:t>
            </a:r>
          </a:p>
        </p:txBody>
      </p:sp>
      <p:sp>
        <p:nvSpPr>
          <p:cNvPr id="141" name="Shape 21"/>
          <p:cNvSpPr/>
          <p:nvPr/>
        </p:nvSpPr>
        <p:spPr>
          <a:xfrm>
            <a:off x="5666080" y="6547104"/>
            <a:ext cx="82297" cy="82297"/>
          </a:xfrm>
          <a:prstGeom prst="ellipse">
            <a:avLst/>
          </a:prstGeom>
          <a:solidFill>
            <a:srgbClr val="D3DCE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Shape 22"/>
          <p:cNvSpPr/>
          <p:nvPr/>
        </p:nvSpPr>
        <p:spPr>
          <a:xfrm>
            <a:off x="5821527" y="6547104"/>
            <a:ext cx="82297" cy="82297"/>
          </a:xfrm>
          <a:prstGeom prst="ellipse">
            <a:avLst/>
          </a:prstGeom>
          <a:solidFill>
            <a:srgbClr val="D3DCE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Shape 23"/>
          <p:cNvSpPr/>
          <p:nvPr/>
        </p:nvSpPr>
        <p:spPr>
          <a:xfrm>
            <a:off x="5976975" y="6547104"/>
            <a:ext cx="109729" cy="109729"/>
          </a:xfrm>
          <a:prstGeom prst="ellipse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Shape 24"/>
          <p:cNvSpPr/>
          <p:nvPr/>
        </p:nvSpPr>
        <p:spPr>
          <a:xfrm>
            <a:off x="6132424" y="6547104"/>
            <a:ext cx="82297" cy="82297"/>
          </a:xfrm>
          <a:prstGeom prst="ellipse">
            <a:avLst/>
          </a:prstGeom>
          <a:solidFill>
            <a:srgbClr val="D3DCE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Shape 25"/>
          <p:cNvSpPr/>
          <p:nvPr/>
        </p:nvSpPr>
        <p:spPr>
          <a:xfrm>
            <a:off x="6287872" y="6547104"/>
            <a:ext cx="82297" cy="82297"/>
          </a:xfrm>
          <a:prstGeom prst="ellipse">
            <a:avLst/>
          </a:prstGeom>
          <a:solidFill>
            <a:srgbClr val="D3DCE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Shape 26"/>
          <p:cNvSpPr/>
          <p:nvPr/>
        </p:nvSpPr>
        <p:spPr>
          <a:xfrm>
            <a:off x="6443319" y="6547104"/>
            <a:ext cx="82297" cy="82297"/>
          </a:xfrm>
          <a:prstGeom prst="ellipse">
            <a:avLst/>
          </a:prstGeom>
          <a:solidFill>
            <a:srgbClr val="D3DCE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 txBox="1"/>
          <p:nvPr/>
        </p:nvSpPr>
        <p:spPr>
          <a:xfrm>
            <a:off x="548640" y="542290"/>
            <a:ext cx="1005840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Old System vs. Our New Approach</a:t>
            </a:r>
          </a:p>
        </p:txBody>
      </p:sp>
      <p:sp>
        <p:nvSpPr>
          <p:cNvPr id="149" name="Shape 1"/>
          <p:cNvSpPr/>
          <p:nvPr/>
        </p:nvSpPr>
        <p:spPr>
          <a:xfrm>
            <a:off x="566927" y="1042416"/>
            <a:ext cx="502921" cy="41149"/>
          </a:xfrm>
          <a:prstGeom prst="rect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Shape 2"/>
          <p:cNvSpPr/>
          <p:nvPr/>
        </p:nvSpPr>
        <p:spPr>
          <a:xfrm>
            <a:off x="548640" y="1417319"/>
            <a:ext cx="5349241" cy="4846322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Shape 3"/>
          <p:cNvSpPr/>
          <p:nvPr/>
        </p:nvSpPr>
        <p:spPr>
          <a:xfrm>
            <a:off x="548640" y="1417319"/>
            <a:ext cx="5349241" cy="685801"/>
          </a:xfrm>
          <a:prstGeom prst="roundRect">
            <a:avLst>
              <a:gd name="adj" fmla="val 13333"/>
            </a:avLst>
          </a:prstGeom>
          <a:solidFill>
            <a:srgbClr val="8A8F9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Shape 4"/>
          <p:cNvSpPr/>
          <p:nvPr/>
        </p:nvSpPr>
        <p:spPr>
          <a:xfrm>
            <a:off x="548639" y="1783079"/>
            <a:ext cx="5349242" cy="320041"/>
          </a:xfrm>
          <a:prstGeom prst="rect">
            <a:avLst/>
          </a:prstGeom>
          <a:solidFill>
            <a:srgbClr val="8A8F9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Text 5"/>
          <p:cNvSpPr txBox="1"/>
          <p:nvPr/>
        </p:nvSpPr>
        <p:spPr>
          <a:xfrm>
            <a:off x="822960" y="1666942"/>
            <a:ext cx="48006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EXISTING SYSTEM</a:t>
            </a:r>
          </a:p>
        </p:txBody>
      </p:sp>
      <p:sp>
        <p:nvSpPr>
          <p:cNvPr id="154" name="Shape 6"/>
          <p:cNvSpPr/>
          <p:nvPr/>
        </p:nvSpPr>
        <p:spPr>
          <a:xfrm>
            <a:off x="822960" y="2331720"/>
            <a:ext cx="310897" cy="310897"/>
          </a:xfrm>
          <a:prstGeom prst="ellipse">
            <a:avLst/>
          </a:prstGeom>
          <a:solidFill>
            <a:srgbClr val="9AA0A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5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5255" y="2414016"/>
            <a:ext cx="146305" cy="146305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Text 7"/>
          <p:cNvSpPr txBox="1"/>
          <p:nvPr/>
        </p:nvSpPr>
        <p:spPr>
          <a:xfrm>
            <a:off x="1280160" y="2276855"/>
            <a:ext cx="452628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10222E"/>
                </a:solidFill>
              </a:defRPr>
            </a:lvl1pPr>
          </a:lstStyle>
          <a:p>
            <a:pPr/>
            <a:r>
              <a:t>Only finds exact keyword matches</a:t>
            </a:r>
          </a:p>
        </p:txBody>
      </p:sp>
      <p:sp>
        <p:nvSpPr>
          <p:cNvPr id="157" name="Shape 8"/>
          <p:cNvSpPr/>
          <p:nvPr/>
        </p:nvSpPr>
        <p:spPr>
          <a:xfrm>
            <a:off x="822960" y="3127248"/>
            <a:ext cx="310897" cy="310897"/>
          </a:xfrm>
          <a:prstGeom prst="ellipse">
            <a:avLst/>
          </a:prstGeom>
          <a:solidFill>
            <a:srgbClr val="9AA0A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58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5255" y="3209544"/>
            <a:ext cx="146305" cy="146305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Text 9"/>
          <p:cNvSpPr txBox="1"/>
          <p:nvPr/>
        </p:nvSpPr>
        <p:spPr>
          <a:xfrm>
            <a:off x="1280160" y="3072383"/>
            <a:ext cx="452628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10222E"/>
                </a:solidFill>
              </a:defRPr>
            </a:lvl1pPr>
          </a:lstStyle>
          <a:p>
            <a:pPr/>
            <a:r>
              <a:t>Scans text one letter at a time</a:t>
            </a:r>
          </a:p>
        </p:txBody>
      </p:sp>
      <p:sp>
        <p:nvSpPr>
          <p:cNvPr id="160" name="Shape 10"/>
          <p:cNvSpPr/>
          <p:nvPr/>
        </p:nvSpPr>
        <p:spPr>
          <a:xfrm>
            <a:off x="822960" y="3922776"/>
            <a:ext cx="310897" cy="310897"/>
          </a:xfrm>
          <a:prstGeom prst="ellipse">
            <a:avLst/>
          </a:prstGeom>
          <a:solidFill>
            <a:srgbClr val="9AA0A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61" name="Image 2" descr="Imag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5255" y="4005071"/>
            <a:ext cx="146305" cy="146305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Text 11"/>
          <p:cNvSpPr txBox="1"/>
          <p:nvPr/>
        </p:nvSpPr>
        <p:spPr>
          <a:xfrm>
            <a:off x="1280160" y="3867911"/>
            <a:ext cx="452628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10222E"/>
                </a:solidFill>
              </a:defRPr>
            </a:lvl1pPr>
          </a:lstStyle>
          <a:p>
            <a:pPr/>
            <a:r>
              <a:t>Can't handle typos or spelling errors</a:t>
            </a:r>
          </a:p>
        </p:txBody>
      </p:sp>
      <p:sp>
        <p:nvSpPr>
          <p:cNvPr id="163" name="Shape 12"/>
          <p:cNvSpPr/>
          <p:nvPr/>
        </p:nvSpPr>
        <p:spPr>
          <a:xfrm>
            <a:off x="822960" y="4718303"/>
            <a:ext cx="310897" cy="310897"/>
          </a:xfrm>
          <a:prstGeom prst="ellipse">
            <a:avLst/>
          </a:prstGeom>
          <a:solidFill>
            <a:srgbClr val="9AA0A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64" name="Image 3" descr="Imag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5255" y="4800600"/>
            <a:ext cx="146305" cy="146305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Text 13"/>
          <p:cNvSpPr txBox="1"/>
          <p:nvPr/>
        </p:nvSpPr>
        <p:spPr>
          <a:xfrm>
            <a:off x="1280160" y="4663440"/>
            <a:ext cx="452628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10222E"/>
                </a:solidFill>
              </a:defRPr>
            </a:lvl1pPr>
          </a:lstStyle>
          <a:p>
            <a:pPr/>
            <a:r>
              <a:t>Doesn't link related resources together</a:t>
            </a:r>
          </a:p>
        </p:txBody>
      </p:sp>
      <p:sp>
        <p:nvSpPr>
          <p:cNvPr id="166" name="Shape 14"/>
          <p:cNvSpPr/>
          <p:nvPr/>
        </p:nvSpPr>
        <p:spPr>
          <a:xfrm>
            <a:off x="822960" y="5513832"/>
            <a:ext cx="310897" cy="310897"/>
          </a:xfrm>
          <a:prstGeom prst="ellipse">
            <a:avLst/>
          </a:prstGeom>
          <a:solidFill>
            <a:srgbClr val="9AA0A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67" name="Image 4" descr="Imag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5255" y="5596128"/>
            <a:ext cx="146305" cy="146305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Text 15"/>
          <p:cNvSpPr txBox="1"/>
          <p:nvPr/>
        </p:nvSpPr>
        <p:spPr>
          <a:xfrm>
            <a:off x="1280160" y="5458967"/>
            <a:ext cx="452628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10222E"/>
                </a:solidFill>
              </a:defRPr>
            </a:lvl1pPr>
          </a:lstStyle>
          <a:p>
            <a:pPr/>
            <a:r>
              <a:t>Uses one method for every kind of search</a:t>
            </a:r>
          </a:p>
        </p:txBody>
      </p:sp>
      <p:sp>
        <p:nvSpPr>
          <p:cNvPr id="169" name="Shape 16"/>
          <p:cNvSpPr/>
          <p:nvPr/>
        </p:nvSpPr>
        <p:spPr>
          <a:xfrm>
            <a:off x="6263640" y="1417319"/>
            <a:ext cx="5349241" cy="4846322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9050">
            <a:solidFill>
              <a:srgbClr val="028090"/>
            </a:solidFill>
          </a:ln>
          <a:effectLst>
            <a:outerShdw sx="100000" sy="100000" kx="0" ky="0" algn="b" rotWithShape="0" blurRad="127000" dist="38100" dir="54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" name="Shape 17"/>
          <p:cNvSpPr/>
          <p:nvPr/>
        </p:nvSpPr>
        <p:spPr>
          <a:xfrm>
            <a:off x="6263640" y="1417319"/>
            <a:ext cx="5349241" cy="685801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Shape 18"/>
          <p:cNvSpPr/>
          <p:nvPr/>
        </p:nvSpPr>
        <p:spPr>
          <a:xfrm>
            <a:off x="6263640" y="1783079"/>
            <a:ext cx="5349241" cy="320041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19"/>
          <p:cNvSpPr txBox="1"/>
          <p:nvPr/>
        </p:nvSpPr>
        <p:spPr>
          <a:xfrm>
            <a:off x="6537959" y="1666942"/>
            <a:ext cx="48006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WHAT WE'RE BUILDING</a:t>
            </a:r>
          </a:p>
        </p:txBody>
      </p:sp>
      <p:sp>
        <p:nvSpPr>
          <p:cNvPr id="173" name="Shape 20"/>
          <p:cNvSpPr/>
          <p:nvPr/>
        </p:nvSpPr>
        <p:spPr>
          <a:xfrm>
            <a:off x="6537959" y="2331720"/>
            <a:ext cx="310897" cy="310897"/>
          </a:xfrm>
          <a:prstGeom prst="ellipse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74" name="Image 5" descr="Imag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20256" y="2414016"/>
            <a:ext cx="146305" cy="146305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Text 21"/>
          <p:cNvSpPr txBox="1"/>
          <p:nvPr/>
        </p:nvSpPr>
        <p:spPr>
          <a:xfrm>
            <a:off x="6995159" y="2276855"/>
            <a:ext cx="443484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10222E"/>
                </a:solidFill>
              </a:defRPr>
            </a:lvl1pPr>
          </a:lstStyle>
          <a:p>
            <a:pPr/>
            <a:r>
              <a:t>Finds matches fast using KMP, Rabin-Karp &amp; Boyer-Moore</a:t>
            </a:r>
          </a:p>
        </p:txBody>
      </p:sp>
      <p:sp>
        <p:nvSpPr>
          <p:cNvPr id="176" name="Shape 22"/>
          <p:cNvSpPr/>
          <p:nvPr/>
        </p:nvSpPr>
        <p:spPr>
          <a:xfrm>
            <a:off x="6537959" y="3127248"/>
            <a:ext cx="310897" cy="310897"/>
          </a:xfrm>
          <a:prstGeom prst="ellipse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77" name="Image 6" descr="Imag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20256" y="3209544"/>
            <a:ext cx="146305" cy="146305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Text 23"/>
          <p:cNvSpPr txBox="1"/>
          <p:nvPr/>
        </p:nvSpPr>
        <p:spPr>
          <a:xfrm>
            <a:off x="6995159" y="3072383"/>
            <a:ext cx="443484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10222E"/>
                </a:solidFill>
              </a:defRPr>
            </a:lvl1pPr>
          </a:lstStyle>
          <a:p>
            <a:pPr/>
            <a:r>
              <a:t>Still finds results even with spelling mistakes</a:t>
            </a:r>
          </a:p>
        </p:txBody>
      </p:sp>
      <p:sp>
        <p:nvSpPr>
          <p:cNvPr id="179" name="Shape 24"/>
          <p:cNvSpPr/>
          <p:nvPr/>
        </p:nvSpPr>
        <p:spPr>
          <a:xfrm>
            <a:off x="6537959" y="3922776"/>
            <a:ext cx="310897" cy="310897"/>
          </a:xfrm>
          <a:prstGeom prst="ellipse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80" name="Image 7" descr="Imag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20256" y="4005071"/>
            <a:ext cx="146305" cy="146305"/>
          </a:xfrm>
          <a:prstGeom prst="rect">
            <a:avLst/>
          </a:prstGeom>
          <a:ln w="12700">
            <a:miter lim="400000"/>
          </a:ln>
        </p:spPr>
      </p:pic>
      <p:sp>
        <p:nvSpPr>
          <p:cNvPr id="181" name="Text 25"/>
          <p:cNvSpPr txBox="1"/>
          <p:nvPr/>
        </p:nvSpPr>
        <p:spPr>
          <a:xfrm>
            <a:off x="6995159" y="3867911"/>
            <a:ext cx="443484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10222E"/>
                </a:solidFill>
              </a:defRPr>
            </a:lvl1pPr>
          </a:lstStyle>
          <a:p>
            <a:pPr/>
            <a:r>
              <a:t>Links related books and papers automatically</a:t>
            </a:r>
          </a:p>
        </p:txBody>
      </p:sp>
      <p:sp>
        <p:nvSpPr>
          <p:cNvPr id="182" name="Shape 26"/>
          <p:cNvSpPr/>
          <p:nvPr/>
        </p:nvSpPr>
        <p:spPr>
          <a:xfrm>
            <a:off x="6537959" y="4718303"/>
            <a:ext cx="310897" cy="310897"/>
          </a:xfrm>
          <a:prstGeom prst="ellipse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83" name="Image 8" descr="Imag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20256" y="4800600"/>
            <a:ext cx="146305" cy="146305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Text 27"/>
          <p:cNvSpPr txBox="1"/>
          <p:nvPr/>
        </p:nvSpPr>
        <p:spPr>
          <a:xfrm>
            <a:off x="6995159" y="4663440"/>
            <a:ext cx="443484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10222E"/>
                </a:solidFill>
              </a:defRPr>
            </a:lvl1pPr>
          </a:lstStyle>
          <a:p>
            <a:pPr/>
            <a:r>
              <a:t>Handles large collections using suffix arrays</a:t>
            </a:r>
          </a:p>
        </p:txBody>
      </p:sp>
      <p:sp>
        <p:nvSpPr>
          <p:cNvPr id="185" name="Shape 28"/>
          <p:cNvSpPr/>
          <p:nvPr/>
        </p:nvSpPr>
        <p:spPr>
          <a:xfrm>
            <a:off x="6537959" y="5513832"/>
            <a:ext cx="310897" cy="310897"/>
          </a:xfrm>
          <a:prstGeom prst="ellipse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86" name="Image 9" descr="Image 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20256" y="5596128"/>
            <a:ext cx="146305" cy="146305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Text 29"/>
          <p:cNvSpPr txBox="1"/>
          <p:nvPr/>
        </p:nvSpPr>
        <p:spPr>
          <a:xfrm>
            <a:off x="6995159" y="5458967"/>
            <a:ext cx="443484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10222E"/>
                </a:solidFill>
              </a:defRPr>
            </a:lvl1pPr>
          </a:lstStyle>
          <a:p>
            <a:pPr/>
            <a:r>
              <a:t>Picks the best algorithm for each search task</a:t>
            </a:r>
          </a:p>
        </p:txBody>
      </p:sp>
      <p:sp>
        <p:nvSpPr>
          <p:cNvPr id="188" name="Text 30"/>
          <p:cNvSpPr txBox="1"/>
          <p:nvPr/>
        </p:nvSpPr>
        <p:spPr>
          <a:xfrm>
            <a:off x="457200" y="6584188"/>
            <a:ext cx="3657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C7080"/>
                </a:solidFill>
              </a:defRPr>
            </a:lvl1pPr>
          </a:lstStyle>
          <a:p>
            <a:pPr/>
            <a:r>
              <a:t>Digital Library Search System</a:t>
            </a:r>
          </a:p>
        </p:txBody>
      </p:sp>
      <p:sp>
        <p:nvSpPr>
          <p:cNvPr id="189" name="Text 31"/>
          <p:cNvSpPr txBox="1"/>
          <p:nvPr/>
        </p:nvSpPr>
        <p:spPr>
          <a:xfrm>
            <a:off x="10881359" y="6584188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C7080"/>
                </a:solidFill>
              </a:defRPr>
            </a:lvl1pPr>
          </a:lstStyle>
          <a:p>
            <a:pPr/>
            <a:r>
              <a:t>04 / 06</a:t>
            </a:r>
          </a:p>
        </p:txBody>
      </p:sp>
      <p:sp>
        <p:nvSpPr>
          <p:cNvPr id="190" name="Shape 32"/>
          <p:cNvSpPr/>
          <p:nvPr/>
        </p:nvSpPr>
        <p:spPr>
          <a:xfrm>
            <a:off x="5666080" y="6547104"/>
            <a:ext cx="82297" cy="82297"/>
          </a:xfrm>
          <a:prstGeom prst="ellipse">
            <a:avLst/>
          </a:prstGeom>
          <a:solidFill>
            <a:srgbClr val="D3DCE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Shape 33"/>
          <p:cNvSpPr/>
          <p:nvPr/>
        </p:nvSpPr>
        <p:spPr>
          <a:xfrm>
            <a:off x="5821527" y="6547104"/>
            <a:ext cx="82297" cy="82297"/>
          </a:xfrm>
          <a:prstGeom prst="ellipse">
            <a:avLst/>
          </a:prstGeom>
          <a:solidFill>
            <a:srgbClr val="D3DCE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Shape 34"/>
          <p:cNvSpPr/>
          <p:nvPr/>
        </p:nvSpPr>
        <p:spPr>
          <a:xfrm>
            <a:off x="5976975" y="6547104"/>
            <a:ext cx="82297" cy="82297"/>
          </a:xfrm>
          <a:prstGeom prst="ellipse">
            <a:avLst/>
          </a:prstGeom>
          <a:solidFill>
            <a:srgbClr val="D3DCE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Shape 35"/>
          <p:cNvSpPr/>
          <p:nvPr/>
        </p:nvSpPr>
        <p:spPr>
          <a:xfrm>
            <a:off x="6132424" y="6547104"/>
            <a:ext cx="109729" cy="109729"/>
          </a:xfrm>
          <a:prstGeom prst="ellipse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Shape 36"/>
          <p:cNvSpPr/>
          <p:nvPr/>
        </p:nvSpPr>
        <p:spPr>
          <a:xfrm>
            <a:off x="6287872" y="6547104"/>
            <a:ext cx="82297" cy="82297"/>
          </a:xfrm>
          <a:prstGeom prst="ellipse">
            <a:avLst/>
          </a:prstGeom>
          <a:solidFill>
            <a:srgbClr val="D3DCE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Shape 37"/>
          <p:cNvSpPr/>
          <p:nvPr/>
        </p:nvSpPr>
        <p:spPr>
          <a:xfrm>
            <a:off x="6443319" y="6547104"/>
            <a:ext cx="82297" cy="82297"/>
          </a:xfrm>
          <a:prstGeom prst="ellipse">
            <a:avLst/>
          </a:prstGeom>
          <a:solidFill>
            <a:srgbClr val="D3DCE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0"/>
          <p:cNvSpPr/>
          <p:nvPr/>
        </p:nvSpPr>
        <p:spPr>
          <a:xfrm>
            <a:off x="-1371600" y="4754879"/>
            <a:ext cx="3657600" cy="3657601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Shape 1"/>
          <p:cNvSpPr/>
          <p:nvPr/>
        </p:nvSpPr>
        <p:spPr>
          <a:xfrm>
            <a:off x="11064240" y="5760720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Shape 2"/>
          <p:cNvSpPr/>
          <p:nvPr/>
        </p:nvSpPr>
        <p:spPr>
          <a:xfrm>
            <a:off x="11237976" y="5760720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0" name="Shape 3"/>
          <p:cNvSpPr/>
          <p:nvPr/>
        </p:nvSpPr>
        <p:spPr>
          <a:xfrm>
            <a:off x="11411711" y="5760720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Shape 4"/>
          <p:cNvSpPr/>
          <p:nvPr/>
        </p:nvSpPr>
        <p:spPr>
          <a:xfrm>
            <a:off x="11585447" y="5760720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Shape 5"/>
          <p:cNvSpPr/>
          <p:nvPr/>
        </p:nvSpPr>
        <p:spPr>
          <a:xfrm>
            <a:off x="11759183" y="5760720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Shape 6"/>
          <p:cNvSpPr/>
          <p:nvPr/>
        </p:nvSpPr>
        <p:spPr>
          <a:xfrm>
            <a:off x="11064240" y="5934455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Shape 7"/>
          <p:cNvSpPr/>
          <p:nvPr/>
        </p:nvSpPr>
        <p:spPr>
          <a:xfrm>
            <a:off x="11237976" y="5934455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Shape 8"/>
          <p:cNvSpPr/>
          <p:nvPr/>
        </p:nvSpPr>
        <p:spPr>
          <a:xfrm>
            <a:off x="11411711" y="5934455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Shape 9"/>
          <p:cNvSpPr/>
          <p:nvPr/>
        </p:nvSpPr>
        <p:spPr>
          <a:xfrm>
            <a:off x="11585447" y="5934455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Shape 10"/>
          <p:cNvSpPr/>
          <p:nvPr/>
        </p:nvSpPr>
        <p:spPr>
          <a:xfrm>
            <a:off x="11759183" y="5934455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Shape 11"/>
          <p:cNvSpPr/>
          <p:nvPr/>
        </p:nvSpPr>
        <p:spPr>
          <a:xfrm>
            <a:off x="11064240" y="6108191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Shape 12"/>
          <p:cNvSpPr/>
          <p:nvPr/>
        </p:nvSpPr>
        <p:spPr>
          <a:xfrm>
            <a:off x="11237976" y="6108191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Shape 13"/>
          <p:cNvSpPr/>
          <p:nvPr/>
        </p:nvSpPr>
        <p:spPr>
          <a:xfrm>
            <a:off x="11411711" y="6108191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Shape 14"/>
          <p:cNvSpPr/>
          <p:nvPr/>
        </p:nvSpPr>
        <p:spPr>
          <a:xfrm>
            <a:off x="11585447" y="6108191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Shape 15"/>
          <p:cNvSpPr/>
          <p:nvPr/>
        </p:nvSpPr>
        <p:spPr>
          <a:xfrm>
            <a:off x="11759183" y="6108191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Shape 16"/>
          <p:cNvSpPr/>
          <p:nvPr/>
        </p:nvSpPr>
        <p:spPr>
          <a:xfrm>
            <a:off x="11064240" y="6281928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Shape 17"/>
          <p:cNvSpPr/>
          <p:nvPr/>
        </p:nvSpPr>
        <p:spPr>
          <a:xfrm>
            <a:off x="11237976" y="6281928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Shape 18"/>
          <p:cNvSpPr/>
          <p:nvPr/>
        </p:nvSpPr>
        <p:spPr>
          <a:xfrm>
            <a:off x="11411711" y="6281928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Shape 19"/>
          <p:cNvSpPr/>
          <p:nvPr/>
        </p:nvSpPr>
        <p:spPr>
          <a:xfrm>
            <a:off x="11585447" y="6281928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Shape 20"/>
          <p:cNvSpPr/>
          <p:nvPr/>
        </p:nvSpPr>
        <p:spPr>
          <a:xfrm>
            <a:off x="11759183" y="6281928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Text 21"/>
          <p:cNvSpPr txBox="1"/>
          <p:nvPr/>
        </p:nvSpPr>
        <p:spPr>
          <a:xfrm>
            <a:off x="548640" y="542290"/>
            <a:ext cx="1005840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Technologies We'll Use</a:t>
            </a:r>
          </a:p>
        </p:txBody>
      </p:sp>
      <p:sp>
        <p:nvSpPr>
          <p:cNvPr id="219" name="Shape 22"/>
          <p:cNvSpPr/>
          <p:nvPr/>
        </p:nvSpPr>
        <p:spPr>
          <a:xfrm>
            <a:off x="566927" y="1042416"/>
            <a:ext cx="502921" cy="41149"/>
          </a:xfrm>
          <a:prstGeom prst="rect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Text 23"/>
          <p:cNvSpPr txBox="1"/>
          <p:nvPr/>
        </p:nvSpPr>
        <p:spPr>
          <a:xfrm>
            <a:off x="548640" y="1233355"/>
            <a:ext cx="96012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9FB4C2"/>
                </a:solidFill>
              </a:defRPr>
            </a:lvl1pPr>
          </a:lstStyle>
          <a:p>
            <a:pPr/>
            <a:r>
              <a:t>The tools and methods behind our search engine</a:t>
            </a:r>
          </a:p>
        </p:txBody>
      </p:sp>
      <p:sp>
        <p:nvSpPr>
          <p:cNvPr id="221" name="Shape 24"/>
          <p:cNvSpPr/>
          <p:nvPr/>
        </p:nvSpPr>
        <p:spPr>
          <a:xfrm>
            <a:off x="548640" y="1691639"/>
            <a:ext cx="2697480" cy="2286001"/>
          </a:xfrm>
          <a:prstGeom prst="roundRect">
            <a:avLst>
              <a:gd name="adj" fmla="val 4000"/>
            </a:avLst>
          </a:prstGeom>
          <a:solidFill>
            <a:srgbClr val="132A4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Shape 25"/>
          <p:cNvSpPr/>
          <p:nvPr/>
        </p:nvSpPr>
        <p:spPr>
          <a:xfrm>
            <a:off x="548640" y="1691639"/>
            <a:ext cx="2697480" cy="54865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3" name="Shape 26"/>
          <p:cNvSpPr/>
          <p:nvPr/>
        </p:nvSpPr>
        <p:spPr>
          <a:xfrm>
            <a:off x="749808" y="1911095"/>
            <a:ext cx="438912" cy="438913"/>
          </a:xfrm>
          <a:prstGeom prst="ellipse">
            <a:avLst/>
          </a:prstGeom>
          <a:solidFill>
            <a:srgbClr val="0B1F3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2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9536" y="2020823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225" name="Text 27"/>
          <p:cNvSpPr txBox="1"/>
          <p:nvPr/>
        </p:nvSpPr>
        <p:spPr>
          <a:xfrm>
            <a:off x="749808" y="2595879"/>
            <a:ext cx="229514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String Matching</a:t>
            </a:r>
          </a:p>
        </p:txBody>
      </p:sp>
      <p:sp>
        <p:nvSpPr>
          <p:cNvPr id="226" name="Text 28"/>
          <p:cNvSpPr txBox="1"/>
          <p:nvPr/>
        </p:nvSpPr>
        <p:spPr>
          <a:xfrm>
            <a:off x="749808" y="3249345"/>
            <a:ext cx="2295145" cy="322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C7D6DE"/>
                </a:solidFill>
              </a:defRPr>
            </a:lvl1pPr>
          </a:lstStyle>
          <a:p>
            <a:pPr/>
            <a:r>
              <a:t>Finds exact words fast using KMP, Rabin-Karp, and Boyer-Moore.</a:t>
            </a:r>
          </a:p>
        </p:txBody>
      </p:sp>
      <p:sp>
        <p:nvSpPr>
          <p:cNvPr id="227" name="Shape 29"/>
          <p:cNvSpPr/>
          <p:nvPr/>
        </p:nvSpPr>
        <p:spPr>
          <a:xfrm>
            <a:off x="3474720" y="1691639"/>
            <a:ext cx="2697480" cy="2286001"/>
          </a:xfrm>
          <a:prstGeom prst="roundRect">
            <a:avLst>
              <a:gd name="adj" fmla="val 4000"/>
            </a:avLst>
          </a:prstGeom>
          <a:solidFill>
            <a:srgbClr val="132A4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Shape 30"/>
          <p:cNvSpPr/>
          <p:nvPr/>
        </p:nvSpPr>
        <p:spPr>
          <a:xfrm>
            <a:off x="3474720" y="1691639"/>
            <a:ext cx="2697480" cy="54865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Shape 31"/>
          <p:cNvSpPr/>
          <p:nvPr/>
        </p:nvSpPr>
        <p:spPr>
          <a:xfrm>
            <a:off x="3675888" y="1911095"/>
            <a:ext cx="438912" cy="438913"/>
          </a:xfrm>
          <a:prstGeom prst="ellipse">
            <a:avLst/>
          </a:prstGeom>
          <a:solidFill>
            <a:srgbClr val="0B1F3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30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85615" y="2020823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231" name="Text 32"/>
          <p:cNvSpPr txBox="1"/>
          <p:nvPr/>
        </p:nvSpPr>
        <p:spPr>
          <a:xfrm>
            <a:off x="3675888" y="2595879"/>
            <a:ext cx="229514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Fuzzy Search</a:t>
            </a:r>
          </a:p>
        </p:txBody>
      </p:sp>
      <p:sp>
        <p:nvSpPr>
          <p:cNvPr id="232" name="Text 33"/>
          <p:cNvSpPr txBox="1"/>
          <p:nvPr/>
        </p:nvSpPr>
        <p:spPr>
          <a:xfrm>
            <a:off x="3675888" y="3249345"/>
            <a:ext cx="2295145" cy="322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C7D6DE"/>
                </a:solidFill>
              </a:defRPr>
            </a:lvl1pPr>
          </a:lstStyle>
          <a:p>
            <a:pPr/>
            <a:r>
              <a:t>Still finds results even with spelling mistakes.</a:t>
            </a:r>
          </a:p>
        </p:txBody>
      </p:sp>
      <p:sp>
        <p:nvSpPr>
          <p:cNvPr id="233" name="Shape 34"/>
          <p:cNvSpPr/>
          <p:nvPr/>
        </p:nvSpPr>
        <p:spPr>
          <a:xfrm>
            <a:off x="6400800" y="1691639"/>
            <a:ext cx="2697480" cy="2286001"/>
          </a:xfrm>
          <a:prstGeom prst="roundRect">
            <a:avLst>
              <a:gd name="adj" fmla="val 4000"/>
            </a:avLst>
          </a:prstGeom>
          <a:solidFill>
            <a:srgbClr val="132A4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Shape 35"/>
          <p:cNvSpPr/>
          <p:nvPr/>
        </p:nvSpPr>
        <p:spPr>
          <a:xfrm>
            <a:off x="6400800" y="1691639"/>
            <a:ext cx="2697480" cy="54865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5" name="Shape 36"/>
          <p:cNvSpPr/>
          <p:nvPr/>
        </p:nvSpPr>
        <p:spPr>
          <a:xfrm>
            <a:off x="6601968" y="1911095"/>
            <a:ext cx="438913" cy="438913"/>
          </a:xfrm>
          <a:prstGeom prst="ellipse">
            <a:avLst/>
          </a:prstGeom>
          <a:solidFill>
            <a:srgbClr val="0B1F3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36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711695" y="2020823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237" name="Text 37"/>
          <p:cNvSpPr txBox="1"/>
          <p:nvPr/>
        </p:nvSpPr>
        <p:spPr>
          <a:xfrm>
            <a:off x="6601968" y="2595879"/>
            <a:ext cx="229514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Indexing</a:t>
            </a:r>
          </a:p>
        </p:txBody>
      </p:sp>
      <p:sp>
        <p:nvSpPr>
          <p:cNvPr id="238" name="Text 38"/>
          <p:cNvSpPr txBox="1"/>
          <p:nvPr/>
        </p:nvSpPr>
        <p:spPr>
          <a:xfrm>
            <a:off x="6601968" y="3249345"/>
            <a:ext cx="2295145" cy="322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C7D6DE"/>
                </a:solidFill>
              </a:defRPr>
            </a:lvl1pPr>
          </a:lstStyle>
          <a:p>
            <a:pPr/>
            <a:r>
              <a:t>Organizes large text using suffix arrays for quick lookup.</a:t>
            </a:r>
          </a:p>
        </p:txBody>
      </p:sp>
      <p:sp>
        <p:nvSpPr>
          <p:cNvPr id="239" name="Shape 39"/>
          <p:cNvSpPr/>
          <p:nvPr/>
        </p:nvSpPr>
        <p:spPr>
          <a:xfrm>
            <a:off x="9326880" y="1691639"/>
            <a:ext cx="2697481" cy="2286001"/>
          </a:xfrm>
          <a:prstGeom prst="roundRect">
            <a:avLst>
              <a:gd name="adj" fmla="val 4000"/>
            </a:avLst>
          </a:prstGeom>
          <a:solidFill>
            <a:srgbClr val="132A4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0" name="Shape 40"/>
          <p:cNvSpPr/>
          <p:nvPr/>
        </p:nvSpPr>
        <p:spPr>
          <a:xfrm>
            <a:off x="9326880" y="1691639"/>
            <a:ext cx="2697481" cy="54865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Shape 41"/>
          <p:cNvSpPr/>
          <p:nvPr/>
        </p:nvSpPr>
        <p:spPr>
          <a:xfrm>
            <a:off x="9528047" y="1911095"/>
            <a:ext cx="438913" cy="438913"/>
          </a:xfrm>
          <a:prstGeom prst="ellipse">
            <a:avLst/>
          </a:prstGeom>
          <a:solidFill>
            <a:srgbClr val="0B1F3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42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637776" y="2020823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243" name="Text 42"/>
          <p:cNvSpPr txBox="1"/>
          <p:nvPr/>
        </p:nvSpPr>
        <p:spPr>
          <a:xfrm>
            <a:off x="9528047" y="2595879"/>
            <a:ext cx="229514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Graph Analysis</a:t>
            </a:r>
          </a:p>
        </p:txBody>
      </p:sp>
      <p:sp>
        <p:nvSpPr>
          <p:cNvPr id="244" name="Text 43"/>
          <p:cNvSpPr txBox="1"/>
          <p:nvPr/>
        </p:nvSpPr>
        <p:spPr>
          <a:xfrm>
            <a:off x="9528047" y="3249345"/>
            <a:ext cx="2295145" cy="322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C7D6DE"/>
                </a:solidFill>
              </a:defRPr>
            </a:lvl1pPr>
          </a:lstStyle>
          <a:p>
            <a:pPr/>
            <a:r>
              <a:t>Links related research papers using citations.</a:t>
            </a:r>
          </a:p>
        </p:txBody>
      </p:sp>
      <p:sp>
        <p:nvSpPr>
          <p:cNvPr id="245" name="Shape 44"/>
          <p:cNvSpPr/>
          <p:nvPr/>
        </p:nvSpPr>
        <p:spPr>
          <a:xfrm>
            <a:off x="548640" y="4233671"/>
            <a:ext cx="2697480" cy="2286001"/>
          </a:xfrm>
          <a:prstGeom prst="roundRect">
            <a:avLst>
              <a:gd name="adj" fmla="val 4000"/>
            </a:avLst>
          </a:prstGeom>
          <a:solidFill>
            <a:srgbClr val="132A4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Shape 45"/>
          <p:cNvSpPr/>
          <p:nvPr/>
        </p:nvSpPr>
        <p:spPr>
          <a:xfrm>
            <a:off x="548640" y="4233671"/>
            <a:ext cx="2697480" cy="54865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7" name="Shape 46"/>
          <p:cNvSpPr/>
          <p:nvPr/>
        </p:nvSpPr>
        <p:spPr>
          <a:xfrm>
            <a:off x="749808" y="4453128"/>
            <a:ext cx="438912" cy="438913"/>
          </a:xfrm>
          <a:prstGeom prst="ellipse">
            <a:avLst/>
          </a:prstGeom>
          <a:solidFill>
            <a:srgbClr val="0B1F3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48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59536" y="4562855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249" name="Text 47"/>
          <p:cNvSpPr txBox="1"/>
          <p:nvPr/>
        </p:nvSpPr>
        <p:spPr>
          <a:xfrm>
            <a:off x="749808" y="5137911"/>
            <a:ext cx="229514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Optimization</a:t>
            </a:r>
          </a:p>
        </p:txBody>
      </p:sp>
      <p:sp>
        <p:nvSpPr>
          <p:cNvPr id="250" name="Text 48"/>
          <p:cNvSpPr txBox="1"/>
          <p:nvPr/>
        </p:nvSpPr>
        <p:spPr>
          <a:xfrm>
            <a:off x="749808" y="5791377"/>
            <a:ext cx="2295145" cy="322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C7D6DE"/>
                </a:solidFill>
              </a:defRPr>
            </a:lvl1pPr>
          </a:lstStyle>
          <a:p>
            <a:pPr/>
            <a:r>
              <a:t>Improves how search results are ranked and shown.</a:t>
            </a:r>
          </a:p>
        </p:txBody>
      </p:sp>
      <p:sp>
        <p:nvSpPr>
          <p:cNvPr id="251" name="Shape 49"/>
          <p:cNvSpPr/>
          <p:nvPr/>
        </p:nvSpPr>
        <p:spPr>
          <a:xfrm>
            <a:off x="3474720" y="4233671"/>
            <a:ext cx="2697480" cy="2286001"/>
          </a:xfrm>
          <a:prstGeom prst="roundRect">
            <a:avLst>
              <a:gd name="adj" fmla="val 4000"/>
            </a:avLst>
          </a:prstGeom>
          <a:solidFill>
            <a:srgbClr val="132A4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2" name="Shape 50"/>
          <p:cNvSpPr/>
          <p:nvPr/>
        </p:nvSpPr>
        <p:spPr>
          <a:xfrm>
            <a:off x="3474720" y="4233671"/>
            <a:ext cx="2697480" cy="54865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Shape 51"/>
          <p:cNvSpPr/>
          <p:nvPr/>
        </p:nvSpPr>
        <p:spPr>
          <a:xfrm>
            <a:off x="3675888" y="4453128"/>
            <a:ext cx="438912" cy="438913"/>
          </a:xfrm>
          <a:prstGeom prst="ellipse">
            <a:avLst/>
          </a:prstGeom>
          <a:solidFill>
            <a:srgbClr val="0B1F3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54" name="Image 5" descr="Image 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785615" y="4562855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255" name="Text 52"/>
          <p:cNvSpPr txBox="1"/>
          <p:nvPr/>
        </p:nvSpPr>
        <p:spPr>
          <a:xfrm>
            <a:off x="3675888" y="5137911"/>
            <a:ext cx="229514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Parallel &amp; Randomized</a:t>
            </a:r>
          </a:p>
        </p:txBody>
      </p:sp>
      <p:sp>
        <p:nvSpPr>
          <p:cNvPr id="256" name="Text 53"/>
          <p:cNvSpPr txBox="1"/>
          <p:nvPr/>
        </p:nvSpPr>
        <p:spPr>
          <a:xfrm>
            <a:off x="3675888" y="5884208"/>
            <a:ext cx="2295145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C7D6DE"/>
                </a:solidFill>
              </a:defRPr>
            </a:lvl1pPr>
          </a:lstStyle>
          <a:p>
            <a:pPr/>
            <a:r>
              <a:t>Speeds up search on big datasets.</a:t>
            </a:r>
          </a:p>
        </p:txBody>
      </p:sp>
      <p:sp>
        <p:nvSpPr>
          <p:cNvPr id="257" name="Shape 54"/>
          <p:cNvSpPr/>
          <p:nvPr/>
        </p:nvSpPr>
        <p:spPr>
          <a:xfrm>
            <a:off x="6400800" y="4233671"/>
            <a:ext cx="2697480" cy="2286001"/>
          </a:xfrm>
          <a:prstGeom prst="roundRect">
            <a:avLst>
              <a:gd name="adj" fmla="val 4000"/>
            </a:avLst>
          </a:prstGeom>
          <a:solidFill>
            <a:srgbClr val="132A4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8" name="Shape 55"/>
          <p:cNvSpPr/>
          <p:nvPr/>
        </p:nvSpPr>
        <p:spPr>
          <a:xfrm>
            <a:off x="6400800" y="4233671"/>
            <a:ext cx="2697480" cy="54865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9" name="Shape 56"/>
          <p:cNvSpPr/>
          <p:nvPr/>
        </p:nvSpPr>
        <p:spPr>
          <a:xfrm>
            <a:off x="6601968" y="4453128"/>
            <a:ext cx="438913" cy="438913"/>
          </a:xfrm>
          <a:prstGeom prst="ellipse">
            <a:avLst/>
          </a:prstGeom>
          <a:solidFill>
            <a:srgbClr val="0B1F3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60" name="Image 6" descr="Image 6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711695" y="4562855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261" name="Text 57"/>
          <p:cNvSpPr txBox="1"/>
          <p:nvPr/>
        </p:nvSpPr>
        <p:spPr>
          <a:xfrm>
            <a:off x="6601968" y="5137911"/>
            <a:ext cx="229514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Programming</a:t>
            </a:r>
          </a:p>
        </p:txBody>
      </p:sp>
      <p:sp>
        <p:nvSpPr>
          <p:cNvPr id="262" name="Text 58"/>
          <p:cNvSpPr txBox="1"/>
          <p:nvPr/>
        </p:nvSpPr>
        <p:spPr>
          <a:xfrm>
            <a:off x="6601968" y="5791377"/>
            <a:ext cx="2295145" cy="322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C7D6DE"/>
                </a:solidFill>
              </a:defRPr>
            </a:lvl1pPr>
          </a:lstStyle>
          <a:p>
            <a:pPr/>
            <a:r>
              <a:t>Built with core programming and data-structure tools.</a:t>
            </a:r>
          </a:p>
        </p:txBody>
      </p:sp>
      <p:sp>
        <p:nvSpPr>
          <p:cNvPr id="263" name="Shape 59"/>
          <p:cNvSpPr/>
          <p:nvPr/>
        </p:nvSpPr>
        <p:spPr>
          <a:xfrm>
            <a:off x="9326880" y="4233671"/>
            <a:ext cx="2697481" cy="2286001"/>
          </a:xfrm>
          <a:prstGeom prst="roundRect">
            <a:avLst>
              <a:gd name="adj" fmla="val 4000"/>
            </a:avLst>
          </a:prstGeom>
          <a:solidFill>
            <a:srgbClr val="132A4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4" name="Shape 60"/>
          <p:cNvSpPr/>
          <p:nvPr/>
        </p:nvSpPr>
        <p:spPr>
          <a:xfrm>
            <a:off x="9326880" y="4233671"/>
            <a:ext cx="2697481" cy="54865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5" name="Shape 61"/>
          <p:cNvSpPr/>
          <p:nvPr/>
        </p:nvSpPr>
        <p:spPr>
          <a:xfrm>
            <a:off x="9528047" y="4453128"/>
            <a:ext cx="438913" cy="438913"/>
          </a:xfrm>
          <a:prstGeom prst="ellipse">
            <a:avLst/>
          </a:prstGeom>
          <a:solidFill>
            <a:srgbClr val="0B1F3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66" name="Image 7" descr="Image 7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9637776" y="4562855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267" name="Text 62"/>
          <p:cNvSpPr txBox="1"/>
          <p:nvPr/>
        </p:nvSpPr>
        <p:spPr>
          <a:xfrm>
            <a:off x="9528047" y="5137911"/>
            <a:ext cx="229514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Complexity Analysis</a:t>
            </a:r>
          </a:p>
        </p:txBody>
      </p:sp>
      <p:sp>
        <p:nvSpPr>
          <p:cNvPr id="268" name="Text 63"/>
          <p:cNvSpPr txBox="1"/>
          <p:nvPr/>
        </p:nvSpPr>
        <p:spPr>
          <a:xfrm>
            <a:off x="9528047" y="5791377"/>
            <a:ext cx="2295145" cy="322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C7D6DE"/>
                </a:solidFill>
              </a:defRPr>
            </a:lvl1pPr>
          </a:lstStyle>
          <a:p>
            <a:pPr/>
            <a:r>
              <a:t>Compares algorithms to find the most efficient one.</a:t>
            </a:r>
          </a:p>
        </p:txBody>
      </p:sp>
      <p:sp>
        <p:nvSpPr>
          <p:cNvPr id="269" name="Text 64"/>
          <p:cNvSpPr txBox="1"/>
          <p:nvPr/>
        </p:nvSpPr>
        <p:spPr>
          <a:xfrm>
            <a:off x="457200" y="6584188"/>
            <a:ext cx="3657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E8598"/>
                </a:solidFill>
              </a:defRPr>
            </a:lvl1pPr>
          </a:lstStyle>
          <a:p>
            <a:pPr/>
            <a:r>
              <a:t>Digital Library Search System</a:t>
            </a:r>
          </a:p>
        </p:txBody>
      </p:sp>
      <p:sp>
        <p:nvSpPr>
          <p:cNvPr id="270" name="Text 65"/>
          <p:cNvSpPr txBox="1"/>
          <p:nvPr/>
        </p:nvSpPr>
        <p:spPr>
          <a:xfrm>
            <a:off x="10881359" y="6584188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E8598"/>
                </a:solidFill>
              </a:defRPr>
            </a:lvl1pPr>
          </a:lstStyle>
          <a:p>
            <a:pPr/>
            <a:r>
              <a:t>05 / 06</a:t>
            </a:r>
          </a:p>
        </p:txBody>
      </p:sp>
      <p:sp>
        <p:nvSpPr>
          <p:cNvPr id="271" name="Shape 66"/>
          <p:cNvSpPr/>
          <p:nvPr/>
        </p:nvSpPr>
        <p:spPr>
          <a:xfrm>
            <a:off x="5666080" y="6547104"/>
            <a:ext cx="82297" cy="82297"/>
          </a:xfrm>
          <a:prstGeom prst="ellipse">
            <a:avLst/>
          </a:prstGeom>
          <a:solidFill>
            <a:srgbClr val="2B415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2" name="Shape 67"/>
          <p:cNvSpPr/>
          <p:nvPr/>
        </p:nvSpPr>
        <p:spPr>
          <a:xfrm>
            <a:off x="5821527" y="6547104"/>
            <a:ext cx="82297" cy="82297"/>
          </a:xfrm>
          <a:prstGeom prst="ellipse">
            <a:avLst/>
          </a:prstGeom>
          <a:solidFill>
            <a:srgbClr val="2B415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3" name="Shape 68"/>
          <p:cNvSpPr/>
          <p:nvPr/>
        </p:nvSpPr>
        <p:spPr>
          <a:xfrm>
            <a:off x="5976975" y="6547104"/>
            <a:ext cx="82297" cy="82297"/>
          </a:xfrm>
          <a:prstGeom prst="ellipse">
            <a:avLst/>
          </a:prstGeom>
          <a:solidFill>
            <a:srgbClr val="2B415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4" name="Shape 69"/>
          <p:cNvSpPr/>
          <p:nvPr/>
        </p:nvSpPr>
        <p:spPr>
          <a:xfrm>
            <a:off x="6132424" y="6547104"/>
            <a:ext cx="82297" cy="82297"/>
          </a:xfrm>
          <a:prstGeom prst="ellipse">
            <a:avLst/>
          </a:prstGeom>
          <a:solidFill>
            <a:srgbClr val="2B415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5" name="Shape 70"/>
          <p:cNvSpPr/>
          <p:nvPr/>
        </p:nvSpPr>
        <p:spPr>
          <a:xfrm>
            <a:off x="6287872" y="6547104"/>
            <a:ext cx="109729" cy="109729"/>
          </a:xfrm>
          <a:prstGeom prst="ellipse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6" name="Shape 71"/>
          <p:cNvSpPr/>
          <p:nvPr/>
        </p:nvSpPr>
        <p:spPr>
          <a:xfrm>
            <a:off x="6443319" y="6547104"/>
            <a:ext cx="82297" cy="82297"/>
          </a:xfrm>
          <a:prstGeom prst="ellipse">
            <a:avLst/>
          </a:prstGeom>
          <a:solidFill>
            <a:srgbClr val="2B415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9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02C39A">
              <a:alpha val="13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0" name="Shape 2"/>
          <p:cNvSpPr/>
          <p:nvPr/>
        </p:nvSpPr>
        <p:spPr>
          <a:xfrm>
            <a:off x="640080" y="548640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1" name="Shape 3"/>
          <p:cNvSpPr/>
          <p:nvPr/>
        </p:nvSpPr>
        <p:spPr>
          <a:xfrm>
            <a:off x="813816" y="548640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2" name="Shape 4"/>
          <p:cNvSpPr/>
          <p:nvPr/>
        </p:nvSpPr>
        <p:spPr>
          <a:xfrm>
            <a:off x="987552" y="548640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3" name="Shape 5"/>
          <p:cNvSpPr/>
          <p:nvPr/>
        </p:nvSpPr>
        <p:spPr>
          <a:xfrm>
            <a:off x="1161288" y="548640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4" name="Shape 6"/>
          <p:cNvSpPr/>
          <p:nvPr/>
        </p:nvSpPr>
        <p:spPr>
          <a:xfrm>
            <a:off x="1335024" y="548640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5" name="Shape 7"/>
          <p:cNvSpPr/>
          <p:nvPr/>
        </p:nvSpPr>
        <p:spPr>
          <a:xfrm>
            <a:off x="1508760" y="548640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6" name="Shape 8"/>
          <p:cNvSpPr/>
          <p:nvPr/>
        </p:nvSpPr>
        <p:spPr>
          <a:xfrm>
            <a:off x="640080" y="722376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7" name="Shape 9"/>
          <p:cNvSpPr/>
          <p:nvPr/>
        </p:nvSpPr>
        <p:spPr>
          <a:xfrm>
            <a:off x="813816" y="722376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8" name="Shape 10"/>
          <p:cNvSpPr/>
          <p:nvPr/>
        </p:nvSpPr>
        <p:spPr>
          <a:xfrm>
            <a:off x="987552" y="722376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9" name="Shape 11"/>
          <p:cNvSpPr/>
          <p:nvPr/>
        </p:nvSpPr>
        <p:spPr>
          <a:xfrm>
            <a:off x="1161288" y="722376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0" name="Shape 12"/>
          <p:cNvSpPr/>
          <p:nvPr/>
        </p:nvSpPr>
        <p:spPr>
          <a:xfrm>
            <a:off x="1335024" y="722376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1" name="Shape 13"/>
          <p:cNvSpPr/>
          <p:nvPr/>
        </p:nvSpPr>
        <p:spPr>
          <a:xfrm>
            <a:off x="1508760" y="722376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2" name="Shape 14"/>
          <p:cNvSpPr/>
          <p:nvPr/>
        </p:nvSpPr>
        <p:spPr>
          <a:xfrm>
            <a:off x="640080" y="896111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3" name="Shape 15"/>
          <p:cNvSpPr/>
          <p:nvPr/>
        </p:nvSpPr>
        <p:spPr>
          <a:xfrm>
            <a:off x="813816" y="896111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4" name="Shape 16"/>
          <p:cNvSpPr/>
          <p:nvPr/>
        </p:nvSpPr>
        <p:spPr>
          <a:xfrm>
            <a:off x="987552" y="896111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Shape 17"/>
          <p:cNvSpPr/>
          <p:nvPr/>
        </p:nvSpPr>
        <p:spPr>
          <a:xfrm>
            <a:off x="1161288" y="896111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6" name="Shape 18"/>
          <p:cNvSpPr/>
          <p:nvPr/>
        </p:nvSpPr>
        <p:spPr>
          <a:xfrm>
            <a:off x="1335024" y="896111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7" name="Shape 19"/>
          <p:cNvSpPr/>
          <p:nvPr/>
        </p:nvSpPr>
        <p:spPr>
          <a:xfrm>
            <a:off x="1508760" y="896111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8" name="Shape 20"/>
          <p:cNvSpPr/>
          <p:nvPr/>
        </p:nvSpPr>
        <p:spPr>
          <a:xfrm>
            <a:off x="640080" y="1069847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9" name="Shape 21"/>
          <p:cNvSpPr/>
          <p:nvPr/>
        </p:nvSpPr>
        <p:spPr>
          <a:xfrm>
            <a:off x="813816" y="1069847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0" name="Shape 22"/>
          <p:cNvSpPr/>
          <p:nvPr/>
        </p:nvSpPr>
        <p:spPr>
          <a:xfrm>
            <a:off x="987552" y="1069847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1" name="Shape 23"/>
          <p:cNvSpPr/>
          <p:nvPr/>
        </p:nvSpPr>
        <p:spPr>
          <a:xfrm>
            <a:off x="1161288" y="1069847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2" name="Shape 24"/>
          <p:cNvSpPr/>
          <p:nvPr/>
        </p:nvSpPr>
        <p:spPr>
          <a:xfrm>
            <a:off x="1335024" y="1069847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3" name="Shape 25"/>
          <p:cNvSpPr/>
          <p:nvPr/>
        </p:nvSpPr>
        <p:spPr>
          <a:xfrm>
            <a:off x="1508760" y="1069847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4" name="Shape 26"/>
          <p:cNvSpPr/>
          <p:nvPr/>
        </p:nvSpPr>
        <p:spPr>
          <a:xfrm>
            <a:off x="640080" y="1243583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5" name="Shape 27"/>
          <p:cNvSpPr/>
          <p:nvPr/>
        </p:nvSpPr>
        <p:spPr>
          <a:xfrm>
            <a:off x="813816" y="1243583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Shape 28"/>
          <p:cNvSpPr/>
          <p:nvPr/>
        </p:nvSpPr>
        <p:spPr>
          <a:xfrm>
            <a:off x="987552" y="1243583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7" name="Shape 29"/>
          <p:cNvSpPr/>
          <p:nvPr/>
        </p:nvSpPr>
        <p:spPr>
          <a:xfrm>
            <a:off x="1161288" y="1243583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Shape 30"/>
          <p:cNvSpPr/>
          <p:nvPr/>
        </p:nvSpPr>
        <p:spPr>
          <a:xfrm>
            <a:off x="1335024" y="1243583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9" name="Shape 31"/>
          <p:cNvSpPr/>
          <p:nvPr/>
        </p:nvSpPr>
        <p:spPr>
          <a:xfrm>
            <a:off x="1508760" y="1243583"/>
            <a:ext cx="32005" cy="32005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0" name="Shape 32"/>
          <p:cNvSpPr/>
          <p:nvPr/>
        </p:nvSpPr>
        <p:spPr>
          <a:xfrm>
            <a:off x="5806440" y="1600200"/>
            <a:ext cx="548641" cy="548641"/>
          </a:xfrm>
          <a:prstGeom prst="ellipse">
            <a:avLst/>
          </a:prstGeom>
          <a:solidFill>
            <a:srgbClr val="132A4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1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34455" y="1728216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312" name="Text 33"/>
          <p:cNvSpPr txBox="1"/>
          <p:nvPr/>
        </p:nvSpPr>
        <p:spPr>
          <a:xfrm>
            <a:off x="-1" y="2609850"/>
            <a:ext cx="1216152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313" name="Shape 34"/>
          <p:cNvSpPr/>
          <p:nvPr/>
        </p:nvSpPr>
        <p:spPr>
          <a:xfrm>
            <a:off x="5779008" y="3337559"/>
            <a:ext cx="640081" cy="45721"/>
          </a:xfrm>
          <a:prstGeom prst="rect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4" name="Text 35"/>
          <p:cNvSpPr txBox="1"/>
          <p:nvPr/>
        </p:nvSpPr>
        <p:spPr>
          <a:xfrm>
            <a:off x="-1" y="3610042"/>
            <a:ext cx="1216152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500">
                <a:solidFill>
                  <a:srgbClr val="02C39A"/>
                </a:solidFill>
              </a:defRPr>
            </a:lvl1pPr>
          </a:lstStyle>
          <a:p>
            <a:pPr/>
            <a:r>
              <a:t>Digital Library Search System  —  Data Structures and Algorithms 3</a:t>
            </a:r>
          </a:p>
        </p:txBody>
      </p:sp>
      <p:sp>
        <p:nvSpPr>
          <p:cNvPr id="315" name="Text 36"/>
          <p:cNvSpPr txBox="1"/>
          <p:nvPr/>
        </p:nvSpPr>
        <p:spPr>
          <a:xfrm>
            <a:off x="-1" y="4351458"/>
            <a:ext cx="121615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C7D6DE"/>
                </a:solidFill>
              </a:defRPr>
            </a:lvl1pPr>
          </a:lstStyle>
          <a:p>
            <a:pPr/>
            <a:r>
              <a:t>V. Gautam  •   S. Sarveswara Reddy   •  P.Anudeeo</a:t>
            </a:r>
          </a:p>
        </p:txBody>
      </p:sp>
      <p:sp>
        <p:nvSpPr>
          <p:cNvPr id="316" name="Text 37"/>
          <p:cNvSpPr txBox="1"/>
          <p:nvPr/>
        </p:nvSpPr>
        <p:spPr>
          <a:xfrm>
            <a:off x="-1" y="4722167"/>
            <a:ext cx="1216152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8FA6B8"/>
                </a:solidFill>
              </a:defRPr>
            </a:lvl1pPr>
          </a:lstStyle>
          <a:p>
            <a:pPr/>
            <a:r>
              <a:t>Team 2  •  Section 9  •  Guide: Dr. S. Vinay Kumar</a:t>
            </a:r>
          </a:p>
        </p:txBody>
      </p:sp>
      <p:sp>
        <p:nvSpPr>
          <p:cNvPr id="317" name="Shape 38"/>
          <p:cNvSpPr/>
          <p:nvPr/>
        </p:nvSpPr>
        <p:spPr>
          <a:xfrm>
            <a:off x="5666080" y="6547104"/>
            <a:ext cx="82297" cy="82297"/>
          </a:xfrm>
          <a:prstGeom prst="ellipse">
            <a:avLst/>
          </a:prstGeom>
          <a:solidFill>
            <a:srgbClr val="2B415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8" name="Shape 39"/>
          <p:cNvSpPr/>
          <p:nvPr/>
        </p:nvSpPr>
        <p:spPr>
          <a:xfrm>
            <a:off x="5821527" y="6547104"/>
            <a:ext cx="82297" cy="82297"/>
          </a:xfrm>
          <a:prstGeom prst="ellipse">
            <a:avLst/>
          </a:prstGeom>
          <a:solidFill>
            <a:srgbClr val="2B415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9" name="Shape 40"/>
          <p:cNvSpPr/>
          <p:nvPr/>
        </p:nvSpPr>
        <p:spPr>
          <a:xfrm>
            <a:off x="5976975" y="6547104"/>
            <a:ext cx="82297" cy="82297"/>
          </a:xfrm>
          <a:prstGeom prst="ellipse">
            <a:avLst/>
          </a:prstGeom>
          <a:solidFill>
            <a:srgbClr val="2B415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0" name="Shape 41"/>
          <p:cNvSpPr/>
          <p:nvPr/>
        </p:nvSpPr>
        <p:spPr>
          <a:xfrm>
            <a:off x="6132424" y="6547104"/>
            <a:ext cx="82297" cy="82297"/>
          </a:xfrm>
          <a:prstGeom prst="ellipse">
            <a:avLst/>
          </a:prstGeom>
          <a:solidFill>
            <a:srgbClr val="2B415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1" name="Shape 42"/>
          <p:cNvSpPr/>
          <p:nvPr/>
        </p:nvSpPr>
        <p:spPr>
          <a:xfrm>
            <a:off x="6287872" y="6547104"/>
            <a:ext cx="82297" cy="82297"/>
          </a:xfrm>
          <a:prstGeom prst="ellipse">
            <a:avLst/>
          </a:prstGeom>
          <a:solidFill>
            <a:srgbClr val="2B415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2" name="Shape 43"/>
          <p:cNvSpPr/>
          <p:nvPr/>
        </p:nvSpPr>
        <p:spPr>
          <a:xfrm>
            <a:off x="6443319" y="6547104"/>
            <a:ext cx="109729" cy="109729"/>
          </a:xfrm>
          <a:prstGeom prst="ellipse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